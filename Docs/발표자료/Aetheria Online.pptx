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8" r:id="rId2"/>
    <p:sldId id="269" r:id="rId3"/>
    <p:sldId id="286" r:id="rId4"/>
    <p:sldId id="285" r:id="rId5"/>
    <p:sldId id="277" r:id="rId6"/>
    <p:sldId id="28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18445-66EE-94D4-C56C-BFC24B440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970790-570A-1AA4-7ECF-522EC1AAD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577A28-B91B-65E3-A9C2-EDD5EE0F0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A58598-9BEC-0388-8D53-C601F576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0A1CC7-57A7-DD8E-8DA6-B328A864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95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9AF6F-63EC-6E79-9586-B6B8DEE3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2195A7-6573-01DD-8588-E0761AB76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221070-95DB-B243-EF83-04309B874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D185AA-8BC3-EB32-7B98-9216D413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E6AA1-0251-0E36-9C75-6E13B2D7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78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C94CB-8024-372F-F912-F53A948E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4D50C3-D4FD-B5D3-7000-D26EBF6C4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9F5FE2-3340-F721-396C-34F77246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415659-2955-8BFE-8E05-12E8E8C5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EA3EE-E65C-11B7-8864-C64DB5A1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69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583F1-B13A-27F2-CDF4-B7DBC14E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A31AFB-DAC2-210B-BAC0-3A62FE67C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51BFCE-4C2A-0988-5578-2A98A1BC2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C2B2E5-4822-D399-B1B4-30C4BF7DE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4FD6F5-9367-6177-6DA7-6CD15F1C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B9CAC0-AB33-6161-1763-14908D00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01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75C06-3CC3-A848-ABF6-D153130C0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19717F-754A-E83E-2F86-F56EDDB4C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8AC2AD-9EE2-FCF2-126A-DE36F24FE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5D0F0A-862C-61C3-7B18-7409EF948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5B7371-FB68-AA06-25E9-B5257462A2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3D11F1-3E4B-5589-4477-EFDB551D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DB80B8-CDBF-EC1A-EF5C-BF656E2C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BE9F40-196B-309F-8C6E-0DC842BD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64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35CA4-91F4-5622-3472-1BA0EAC8B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DA43BC-C7D9-E650-B5CD-DF1211AC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284BE1-A7A4-C6F2-EF1D-E742155D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418CC6-2391-0AC4-0BC4-69079793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88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D2D1B5-80AE-658E-7A3E-063751EF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E7FB4E-92FC-B30D-BA0C-12D94DBE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101E33-25A6-CE92-D7AB-406B70C8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31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9CD61-F002-284C-19BA-B2C83D9F2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D00A07-69D2-3ABA-AC9F-3C6C0E91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766956-1BEC-AB3B-A7BA-10666C93B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5C3CF7-A289-CEEC-C131-7824C9EF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FC6B91-AE49-3D7B-5CB8-5D943327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B17AFD-B759-A01F-27E2-3BF1594A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60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DD366-B82C-E755-7F2E-C5A66E3F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736EBEA-6F61-2642-5ED4-C839CC090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E7604B-25D9-AFF3-E04B-D2240A897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21F69D-EDEB-144C-7AA4-AEC75476A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002FA8-AF9F-7E84-FA24-9E2AB9BE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A064D6-03B7-ECFB-30F8-DF64BB02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13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9B997-D39C-B68F-E65F-DC577ECC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146671-1F43-3704-CDD3-C1AE8BDBF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7212D-DB6B-BA52-E3FF-455733671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703D7-949E-DCCC-5637-95AA68EE1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BC3A21-774E-2891-147C-F7F99101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40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E9582C-1695-5599-17EE-38B471146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D8C3E2-7103-43CF-D027-91A1C0675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2C8CA8-FC06-2348-BA36-0FD78BF2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44538E-E8FA-3652-0A96-67801DAB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700F0-97B8-07F9-F687-136FAFF33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3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D69422-F81E-2DFF-AB45-9CD85756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6E1E2-4D0C-955F-2E54-29D204B39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F6320-15DA-46D1-3868-C79C54C79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D1C8B-0EDF-4211-A09B-79EB60E97F4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4AA74F-DA5E-CFF3-A399-D97022610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E23CA-1702-5FA0-B81E-AD28408F8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AA218-4ACC-4869-8244-3DC27B15F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0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0E284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1C95F-21D5-ADE6-0A81-E815E4CBA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5400" b="1" dirty="0">
                <a:solidFill>
                  <a:srgbClr val="0E2841"/>
                </a:solidFill>
              </a:rPr>
              <a:t>Aetheria Online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6B1E13-AF81-E2D7-6DE3-3D7F9BD377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ko-KR" sz="2000" dirty="0">
                <a:solidFill>
                  <a:srgbClr val="156082"/>
                </a:solidFill>
              </a:rPr>
              <a:t>MMORPG 서버</a:t>
            </a:r>
          </a:p>
          <a:p>
            <a:pPr algn="ctr"/>
            <a:r>
              <a:rPr lang="ko-KR" sz="1500" dirty="0">
                <a:solidFill>
                  <a:srgbClr val="595959"/>
                </a:solidFill>
              </a:rPr>
              <a:t>게임서버프로그래밍 텀프로젝트 · 최종 발표 · 게임공학과 2021184025 이도익</a:t>
            </a:r>
          </a:p>
        </p:txBody>
      </p:sp>
    </p:spTree>
    <p:extLst>
      <p:ext uri="{BB962C8B-B14F-4D97-AF65-F5344CB8AC3E}">
        <p14:creationId xmlns:p14="http://schemas.microsoft.com/office/powerpoint/2010/main" val="218570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32F24-CF8F-816B-2D37-35C42FFA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구현 요소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E716743-F00F-49AA-86C9-8EF760DFF88E}"/>
              </a:ext>
            </a:extLst>
          </p:cNvPr>
          <p:cNvSpPr/>
          <p:nvPr/>
        </p:nvSpPr>
        <p:spPr>
          <a:xfrm>
            <a:off x="762000" y="2082800"/>
            <a:ext cx="2514600" cy="20066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D8333-E528-4A06-AEB1-AEAAB0DFDC20}"/>
              </a:ext>
            </a:extLst>
          </p:cNvPr>
          <p:cNvSpPr txBox="1"/>
          <p:nvPr/>
        </p:nvSpPr>
        <p:spPr>
          <a:xfrm>
            <a:off x="1498600" y="2311400"/>
            <a:ext cx="1625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</a:rPr>
              <a:t>이동 </a:t>
            </a:r>
            <a:r>
              <a:rPr lang="en-US" altLang="ko-KR" sz="1500" b="1">
                <a:solidFill>
                  <a:srgbClr val="0E2841"/>
                </a:solidFill>
              </a:rPr>
              <a:t>&amp; </a:t>
            </a:r>
            <a:r>
              <a:rPr lang="ko-KR" altLang="en-US" sz="1500" b="1">
                <a:solidFill>
                  <a:srgbClr val="0E2841"/>
                </a:solidFill>
              </a:rPr>
              <a:t>충돌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7072-5F32-4B72-9C4C-AA3C9FDF31F1}"/>
              </a:ext>
            </a:extLst>
          </p:cNvPr>
          <p:cNvSpPr txBox="1"/>
          <p:nvPr/>
        </p:nvSpPr>
        <p:spPr>
          <a:xfrm>
            <a:off x="939800" y="3022600"/>
            <a:ext cx="2159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>
                <a:solidFill>
                  <a:srgbClr val="595959"/>
                </a:solidFill>
              </a:rPr>
              <a:t>0.5</a:t>
            </a:r>
            <a:r>
              <a:rPr lang="ko-KR" altLang="en-US" sz="1150">
                <a:solidFill>
                  <a:srgbClr val="595959"/>
                </a:solidFill>
              </a:rPr>
              <a:t>초</a:t>
            </a:r>
            <a:r>
              <a:rPr lang="en-US" altLang="ko-KR" sz="1150">
                <a:solidFill>
                  <a:srgbClr val="595959"/>
                </a:solidFill>
              </a:rPr>
              <a:t>/</a:t>
            </a:r>
            <a:r>
              <a:rPr lang="ko-KR" altLang="en-US" sz="1150">
                <a:solidFill>
                  <a:srgbClr val="595959"/>
                </a:solidFill>
              </a:rPr>
              <a:t>칸 이동</a:t>
            </a:r>
            <a:r>
              <a:rPr lang="en-US" altLang="ko-KR" sz="1150">
                <a:solidFill>
                  <a:srgbClr val="595959"/>
                </a:solidFill>
              </a:rPr>
              <a:t>. </a:t>
            </a:r>
            <a:r>
              <a:rPr lang="ko-KR" altLang="en-US" sz="1150">
                <a:solidFill>
                  <a:srgbClr val="595959"/>
                </a:solidFill>
              </a:rPr>
              <a:t>서버가 경계</a:t>
            </a:r>
            <a:r>
              <a:rPr lang="en-US" altLang="ko-KR" sz="1150">
                <a:solidFill>
                  <a:srgbClr val="595959"/>
                </a:solidFill>
              </a:rPr>
              <a:t>·</a:t>
            </a:r>
            <a:r>
              <a:rPr lang="ko-KR" altLang="en-US" sz="1150">
                <a:solidFill>
                  <a:srgbClr val="595959"/>
                </a:solidFill>
              </a:rPr>
              <a:t>장애물</a:t>
            </a:r>
            <a:r>
              <a:rPr lang="en-US" altLang="ko-KR" sz="1150">
                <a:solidFill>
                  <a:srgbClr val="595959"/>
                </a:solidFill>
              </a:rPr>
              <a:t>·</a:t>
            </a:r>
            <a:r>
              <a:rPr lang="ko-KR" altLang="en-US" sz="1150">
                <a:solidFill>
                  <a:srgbClr val="595959"/>
                </a:solidFill>
              </a:rPr>
              <a:t>이동량</a:t>
            </a:r>
            <a:r>
              <a:rPr lang="en-US" altLang="ko-KR" sz="1150">
                <a:solidFill>
                  <a:srgbClr val="595959"/>
                </a:solidFill>
              </a:rPr>
              <a:t>·</a:t>
            </a:r>
            <a:r>
              <a:rPr lang="ko-KR" altLang="en-US" sz="1150">
                <a:solidFill>
                  <a:srgbClr val="595959"/>
                </a:solidFill>
              </a:rPr>
              <a:t>쿨타임을 모두 재검증 </a:t>
            </a:r>
            <a:r>
              <a:rPr lang="en-US" altLang="ko-KR" sz="1150">
                <a:solidFill>
                  <a:srgbClr val="595959"/>
                </a:solidFill>
              </a:rPr>
              <a:t>(</a:t>
            </a:r>
            <a:r>
              <a:rPr lang="ko-KR" altLang="en-US" sz="1150">
                <a:solidFill>
                  <a:srgbClr val="595959"/>
                </a:solidFill>
              </a:rPr>
              <a:t>클라 좌표 불신</a:t>
            </a:r>
            <a:r>
              <a:rPr lang="en-US" altLang="ko-KR" sz="1150">
                <a:solidFill>
                  <a:srgbClr val="595959"/>
                </a:solidFill>
              </a:rPr>
              <a:t>)</a:t>
            </a:r>
            <a:endParaRPr lang="ko-KR" altLang="en-US" sz="1150">
              <a:solidFill>
                <a:srgbClr val="595959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9485DD5-27EB-4867-9602-D68208C5A953}"/>
              </a:ext>
            </a:extLst>
          </p:cNvPr>
          <p:cNvSpPr/>
          <p:nvPr/>
        </p:nvSpPr>
        <p:spPr>
          <a:xfrm>
            <a:off x="3479800" y="2082800"/>
            <a:ext cx="2514600" cy="20066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B2AE2-80B5-4D67-93A0-AE215F48B38F}"/>
              </a:ext>
            </a:extLst>
          </p:cNvPr>
          <p:cNvSpPr txBox="1"/>
          <p:nvPr/>
        </p:nvSpPr>
        <p:spPr>
          <a:xfrm>
            <a:off x="4216400" y="2311400"/>
            <a:ext cx="1625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</a:rPr>
              <a:t>지형 장애물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A3F52-2552-4217-BC19-4E6CB6A3BF15}"/>
              </a:ext>
            </a:extLst>
          </p:cNvPr>
          <p:cNvSpPr txBox="1"/>
          <p:nvPr/>
        </p:nvSpPr>
        <p:spPr>
          <a:xfrm>
            <a:off x="3657600" y="3022600"/>
            <a:ext cx="2159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 dirty="0">
                <a:solidFill>
                  <a:srgbClr val="595959"/>
                </a:solidFill>
              </a:rPr>
              <a:t>2,000² </a:t>
            </a:r>
            <a:r>
              <a:rPr lang="ko-KR" altLang="en-US" sz="1150" dirty="0">
                <a:solidFill>
                  <a:srgbClr val="595959"/>
                </a:solidFill>
              </a:rPr>
              <a:t>비트맵 </a:t>
            </a:r>
            <a:r>
              <a:rPr lang="en-US" altLang="ko-KR" sz="1150" dirty="0">
                <a:solidFill>
                  <a:srgbClr val="595959"/>
                </a:solidFill>
              </a:rPr>
              <a:t>+ </a:t>
            </a:r>
            <a:r>
              <a:rPr lang="ko-KR" altLang="en-US" sz="1150" dirty="0">
                <a:solidFill>
                  <a:srgbClr val="595959"/>
                </a:solidFill>
              </a:rPr>
              <a:t>절차적 장식 타일</a:t>
            </a:r>
            <a:r>
              <a:rPr lang="en-US" altLang="ko-KR" sz="1150" dirty="0">
                <a:solidFill>
                  <a:srgbClr val="595959"/>
                </a:solidFill>
              </a:rPr>
              <a:t>. </a:t>
            </a:r>
          </a:p>
          <a:p>
            <a:pPr algn="l"/>
            <a:endParaRPr lang="en-US" altLang="ko-KR" sz="1150" dirty="0">
              <a:solidFill>
                <a:srgbClr val="595959"/>
              </a:solidFill>
            </a:endParaRPr>
          </a:p>
          <a:p>
            <a:pPr algn="l"/>
            <a:r>
              <a:rPr lang="en-US" altLang="ko-KR" sz="1150" dirty="0" err="1">
                <a:solidFill>
                  <a:srgbClr val="595959"/>
                </a:solidFill>
              </a:rPr>
              <a:t>IsBlocked</a:t>
            </a:r>
            <a:r>
              <a:rPr lang="en-US" altLang="ko-KR" sz="1150" dirty="0">
                <a:solidFill>
                  <a:srgbClr val="595959"/>
                </a:solidFill>
              </a:rPr>
              <a:t> </a:t>
            </a:r>
            <a:r>
              <a:rPr lang="ko-KR" altLang="en-US" sz="1150" dirty="0">
                <a:solidFill>
                  <a:srgbClr val="595959"/>
                </a:solidFill>
              </a:rPr>
              <a:t>판정 </a:t>
            </a:r>
            <a:r>
              <a:rPr lang="en-US" altLang="ko-KR" sz="1150" dirty="0">
                <a:solidFill>
                  <a:srgbClr val="595959"/>
                </a:solidFill>
              </a:rPr>
              <a:t>O(1)</a:t>
            </a:r>
            <a:endParaRPr lang="ko-KR" altLang="en-US" sz="1150" dirty="0">
              <a:solidFill>
                <a:srgbClr val="595959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DCF224D-32E0-4386-BCF4-9DA26716AAA3}"/>
              </a:ext>
            </a:extLst>
          </p:cNvPr>
          <p:cNvSpPr/>
          <p:nvPr/>
        </p:nvSpPr>
        <p:spPr>
          <a:xfrm>
            <a:off x="6197600" y="2082800"/>
            <a:ext cx="2514600" cy="20066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80E7F-31A0-4101-AA88-2888F456048C}"/>
              </a:ext>
            </a:extLst>
          </p:cNvPr>
          <p:cNvSpPr txBox="1"/>
          <p:nvPr/>
        </p:nvSpPr>
        <p:spPr>
          <a:xfrm>
            <a:off x="6934200" y="2311400"/>
            <a:ext cx="1625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</a:rPr>
              <a:t>NPC AI</a:t>
            </a:r>
            <a:endParaRPr lang="ko-KR" altLang="en-US" sz="1500" b="1">
              <a:solidFill>
                <a:srgbClr val="0E284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21569-4C20-4045-BD69-A3F2DD1553A1}"/>
              </a:ext>
            </a:extLst>
          </p:cNvPr>
          <p:cNvSpPr txBox="1"/>
          <p:nvPr/>
        </p:nvSpPr>
        <p:spPr>
          <a:xfrm>
            <a:off x="6375400" y="3022600"/>
            <a:ext cx="2159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>
                <a:solidFill>
                  <a:srgbClr val="595959"/>
                </a:solidFill>
              </a:rPr>
              <a:t>Peace(</a:t>
            </a:r>
            <a:r>
              <a:rPr lang="ko-KR" altLang="en-US" sz="1150">
                <a:solidFill>
                  <a:srgbClr val="595959"/>
                </a:solidFill>
              </a:rPr>
              <a:t>선공 </a:t>
            </a:r>
            <a:r>
              <a:rPr lang="en-US" altLang="ko-KR" sz="1150">
                <a:solidFill>
                  <a:srgbClr val="595959"/>
                </a:solidFill>
              </a:rPr>
              <a:t>X) / Agro(11×11 </a:t>
            </a:r>
            <a:r>
              <a:rPr lang="ko-KR" altLang="en-US" sz="1150">
                <a:solidFill>
                  <a:srgbClr val="595959"/>
                </a:solidFill>
              </a:rPr>
              <a:t>진입 시 추격</a:t>
            </a:r>
            <a:r>
              <a:rPr lang="en-US" altLang="ko-KR" sz="1150">
                <a:solidFill>
                  <a:srgbClr val="595959"/>
                </a:solidFill>
              </a:rPr>
              <a:t>) FSM </a:t>
            </a:r>
            <a:r>
              <a:rPr lang="ko-KR" altLang="en-US" sz="1150">
                <a:solidFill>
                  <a:srgbClr val="595959"/>
                </a:solidFill>
              </a:rPr>
              <a:t>기반 행동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7A26BD1-03A9-43FA-889C-3F2E9EB75B4D}"/>
              </a:ext>
            </a:extLst>
          </p:cNvPr>
          <p:cNvSpPr/>
          <p:nvPr/>
        </p:nvSpPr>
        <p:spPr>
          <a:xfrm>
            <a:off x="8915400" y="2082800"/>
            <a:ext cx="2514600" cy="20066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A4817F-B8DA-440F-94D7-670B06B985AB}"/>
              </a:ext>
            </a:extLst>
          </p:cNvPr>
          <p:cNvSpPr txBox="1"/>
          <p:nvPr/>
        </p:nvSpPr>
        <p:spPr>
          <a:xfrm>
            <a:off x="9652000" y="2311400"/>
            <a:ext cx="1625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</a:rPr>
              <a:t>NPC </a:t>
            </a:r>
            <a:r>
              <a:rPr lang="ko-KR" altLang="en-US" sz="1500" b="1">
                <a:solidFill>
                  <a:srgbClr val="0E2841"/>
                </a:solidFill>
              </a:rPr>
              <a:t>이동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0DBF63-5D13-44CD-AE40-9535DBBE78AB}"/>
              </a:ext>
            </a:extLst>
          </p:cNvPr>
          <p:cNvSpPr txBox="1"/>
          <p:nvPr/>
        </p:nvSpPr>
        <p:spPr>
          <a:xfrm>
            <a:off x="9093200" y="3022600"/>
            <a:ext cx="2159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>
                <a:solidFill>
                  <a:srgbClr val="595959"/>
                </a:solidFill>
              </a:rPr>
              <a:t>고정 </a:t>
            </a:r>
            <a:r>
              <a:rPr lang="en-US" altLang="ko-KR" sz="1150">
                <a:solidFill>
                  <a:srgbClr val="595959"/>
                </a:solidFill>
              </a:rPr>
              <a:t>· </a:t>
            </a:r>
            <a:r>
              <a:rPr lang="ko-KR" altLang="en-US" sz="1150">
                <a:solidFill>
                  <a:srgbClr val="595959"/>
                </a:solidFill>
              </a:rPr>
              <a:t>로밍</a:t>
            </a:r>
            <a:r>
              <a:rPr lang="en-US" altLang="ko-KR" sz="1150">
                <a:solidFill>
                  <a:srgbClr val="595959"/>
                </a:solidFill>
              </a:rPr>
              <a:t>(20×20) · </a:t>
            </a:r>
            <a:r>
              <a:rPr lang="ko-KR" altLang="en-US" sz="1150">
                <a:solidFill>
                  <a:srgbClr val="595959"/>
                </a:solidFill>
              </a:rPr>
              <a:t>막히면 </a:t>
            </a:r>
            <a:r>
              <a:rPr lang="en-US" altLang="ko-KR" sz="1150">
                <a:solidFill>
                  <a:srgbClr val="595959"/>
                </a:solidFill>
              </a:rPr>
              <a:t>A* </a:t>
            </a:r>
            <a:r>
              <a:rPr lang="ko-KR" altLang="en-US" sz="1150">
                <a:solidFill>
                  <a:srgbClr val="595959"/>
                </a:solidFill>
              </a:rPr>
              <a:t>길찾기로 장애물 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D80ACE1-9CD1-4926-9C12-46AA528F0D47}"/>
              </a:ext>
            </a:extLst>
          </p:cNvPr>
          <p:cNvSpPr/>
          <p:nvPr/>
        </p:nvSpPr>
        <p:spPr>
          <a:xfrm>
            <a:off x="762000" y="4419600"/>
            <a:ext cx="2514600" cy="20066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16D4E6-1517-491B-93F1-6C1BAB6BD04A}"/>
              </a:ext>
            </a:extLst>
          </p:cNvPr>
          <p:cNvSpPr txBox="1"/>
          <p:nvPr/>
        </p:nvSpPr>
        <p:spPr>
          <a:xfrm>
            <a:off x="1498600" y="4648200"/>
            <a:ext cx="1625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</a:rPr>
              <a:t>4</a:t>
            </a:r>
            <a:r>
              <a:rPr lang="ko-KR" altLang="en-US" sz="1500" b="1">
                <a:solidFill>
                  <a:srgbClr val="0E2841"/>
                </a:solidFill>
              </a:rPr>
              <a:t>방향 전투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0A3146-7A26-4FB7-B828-60A968C3DE4F}"/>
              </a:ext>
            </a:extLst>
          </p:cNvPr>
          <p:cNvSpPr txBox="1"/>
          <p:nvPr/>
        </p:nvSpPr>
        <p:spPr>
          <a:xfrm>
            <a:off x="939800" y="5359400"/>
            <a:ext cx="2159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>
                <a:solidFill>
                  <a:srgbClr val="595959"/>
                </a:solidFill>
              </a:rPr>
              <a:t>A</a:t>
            </a:r>
            <a:r>
              <a:rPr lang="ko-KR" altLang="en-US" sz="1150">
                <a:solidFill>
                  <a:srgbClr val="595959"/>
                </a:solidFill>
              </a:rPr>
              <a:t>키로 상하좌우</a:t>
            </a:r>
            <a:r>
              <a:rPr lang="en-US" altLang="ko-KR" sz="1150">
                <a:solidFill>
                  <a:srgbClr val="595959"/>
                </a:solidFill>
              </a:rPr>
              <a:t>+</a:t>
            </a:r>
            <a:r>
              <a:rPr lang="ko-KR" altLang="en-US" sz="1150">
                <a:solidFill>
                  <a:srgbClr val="595959"/>
                </a:solidFill>
              </a:rPr>
              <a:t>제자리 </a:t>
            </a:r>
            <a:r>
              <a:rPr lang="en-US" altLang="ko-KR" sz="1150">
                <a:solidFill>
                  <a:srgbClr val="595959"/>
                </a:solidFill>
              </a:rPr>
              <a:t>5</a:t>
            </a:r>
            <a:r>
              <a:rPr lang="ko-KR" altLang="en-US" sz="1150">
                <a:solidFill>
                  <a:srgbClr val="595959"/>
                </a:solidFill>
              </a:rPr>
              <a:t>칸 동시 공격</a:t>
            </a:r>
            <a:r>
              <a:rPr lang="en-US" altLang="ko-KR" sz="1150">
                <a:solidFill>
                  <a:srgbClr val="595959"/>
                </a:solidFill>
              </a:rPr>
              <a:t>. 1</a:t>
            </a:r>
            <a:r>
              <a:rPr lang="ko-KR" altLang="en-US" sz="1150">
                <a:solidFill>
                  <a:srgbClr val="595959"/>
                </a:solidFill>
              </a:rPr>
              <a:t>초 쿨</a:t>
            </a:r>
            <a:r>
              <a:rPr lang="en-US" altLang="ko-KR" sz="1150">
                <a:solidFill>
                  <a:srgbClr val="595959"/>
                </a:solidFill>
              </a:rPr>
              <a:t>, </a:t>
            </a:r>
            <a:r>
              <a:rPr lang="ko-KR" altLang="en-US" sz="1150">
                <a:solidFill>
                  <a:srgbClr val="595959"/>
                </a:solidFill>
              </a:rPr>
              <a:t>막타 정확히 </a:t>
            </a:r>
            <a:r>
              <a:rPr lang="en-US" altLang="ko-KR" sz="1150">
                <a:solidFill>
                  <a:srgbClr val="595959"/>
                </a:solidFill>
              </a:rPr>
              <a:t>1</a:t>
            </a:r>
            <a:r>
              <a:rPr lang="ko-KR" altLang="en-US" sz="1150">
                <a:solidFill>
                  <a:srgbClr val="595959"/>
                </a:solidFill>
              </a:rPr>
              <a:t>회 판정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FB226B2-D897-4EDF-91EF-A78B837DE175}"/>
              </a:ext>
            </a:extLst>
          </p:cNvPr>
          <p:cNvSpPr/>
          <p:nvPr/>
        </p:nvSpPr>
        <p:spPr>
          <a:xfrm>
            <a:off x="3479800" y="4419600"/>
            <a:ext cx="2514600" cy="20066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797727-7B39-4711-A389-EEFED9B240D1}"/>
              </a:ext>
            </a:extLst>
          </p:cNvPr>
          <p:cNvSpPr txBox="1"/>
          <p:nvPr/>
        </p:nvSpPr>
        <p:spPr>
          <a:xfrm>
            <a:off x="4216400" y="4648200"/>
            <a:ext cx="1625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</a:rPr>
              <a:t>DB </a:t>
            </a:r>
            <a:r>
              <a:rPr lang="ko-KR" altLang="en-US" sz="1500" b="1">
                <a:solidFill>
                  <a:srgbClr val="0E2841"/>
                </a:solidFill>
              </a:rPr>
              <a:t>영속화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0C5D6B-8C26-4195-A7D2-08A9D41EBE79}"/>
              </a:ext>
            </a:extLst>
          </p:cNvPr>
          <p:cNvSpPr txBox="1"/>
          <p:nvPr/>
        </p:nvSpPr>
        <p:spPr>
          <a:xfrm>
            <a:off x="3657600" y="5359400"/>
            <a:ext cx="2159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>
                <a:solidFill>
                  <a:srgbClr val="595959"/>
                </a:solidFill>
              </a:rPr>
              <a:t>MS SQL Server(ODBC) </a:t>
            </a:r>
            <a:r>
              <a:rPr lang="ko-KR" altLang="en-US" sz="1150">
                <a:solidFill>
                  <a:srgbClr val="595959"/>
                </a:solidFill>
              </a:rPr>
              <a:t>비동기 저장</a:t>
            </a:r>
            <a:r>
              <a:rPr lang="en-US" altLang="ko-KR" sz="1150">
                <a:solidFill>
                  <a:srgbClr val="595959"/>
                </a:solidFill>
              </a:rPr>
              <a:t>/</a:t>
            </a:r>
            <a:r>
              <a:rPr lang="ko-KR" altLang="en-US" sz="1150">
                <a:solidFill>
                  <a:srgbClr val="595959"/>
                </a:solidFill>
              </a:rPr>
              <a:t>복원</a:t>
            </a:r>
            <a:r>
              <a:rPr lang="en-US" altLang="ko-KR" sz="1150">
                <a:solidFill>
                  <a:srgbClr val="595959"/>
                </a:solidFill>
              </a:rPr>
              <a:t>. </a:t>
            </a:r>
            <a:r>
              <a:rPr lang="ko-KR" altLang="en-US" sz="1150">
                <a:solidFill>
                  <a:srgbClr val="595959"/>
                </a:solidFill>
              </a:rPr>
              <a:t>실패 시 </a:t>
            </a:r>
            <a:r>
              <a:rPr lang="en-US" altLang="ko-KR" sz="1150">
                <a:solidFill>
                  <a:srgbClr val="595959"/>
                </a:solidFill>
              </a:rPr>
              <a:t>JSON </a:t>
            </a:r>
            <a:r>
              <a:rPr lang="ko-KR" altLang="en-US" sz="1150">
                <a:solidFill>
                  <a:srgbClr val="595959"/>
                </a:solidFill>
              </a:rPr>
              <a:t>폴백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B568AC-50F9-4A4A-A8E7-4DA163440B00}"/>
              </a:ext>
            </a:extLst>
          </p:cNvPr>
          <p:cNvSpPr/>
          <p:nvPr/>
        </p:nvSpPr>
        <p:spPr>
          <a:xfrm>
            <a:off x="6197600" y="4419600"/>
            <a:ext cx="2514600" cy="20066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5ACCE0-1F96-4E3A-BAA7-35C35AD47A95}"/>
              </a:ext>
            </a:extLst>
          </p:cNvPr>
          <p:cNvSpPr txBox="1"/>
          <p:nvPr/>
        </p:nvSpPr>
        <p:spPr>
          <a:xfrm>
            <a:off x="6934200" y="4648200"/>
            <a:ext cx="1625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0E2841"/>
                </a:solidFill>
              </a:rPr>
              <a:t>Lua </a:t>
            </a:r>
            <a:r>
              <a:rPr lang="ko-KR" altLang="en-US" sz="1500" b="1">
                <a:solidFill>
                  <a:srgbClr val="0E2841"/>
                </a:solidFill>
              </a:rPr>
              <a:t>스크립트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096AC6-2416-4F69-8048-7061C87CEFF1}"/>
              </a:ext>
            </a:extLst>
          </p:cNvPr>
          <p:cNvSpPr txBox="1"/>
          <p:nvPr/>
        </p:nvSpPr>
        <p:spPr>
          <a:xfrm>
            <a:off x="6375400" y="5359400"/>
            <a:ext cx="2159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>
                <a:solidFill>
                  <a:srgbClr val="595959"/>
                </a:solidFill>
              </a:rPr>
              <a:t>NPC·</a:t>
            </a:r>
            <a:r>
              <a:rPr lang="ko-KR" altLang="en-US" sz="1150">
                <a:solidFill>
                  <a:srgbClr val="595959"/>
                </a:solidFill>
              </a:rPr>
              <a:t>보스 </a:t>
            </a:r>
            <a:r>
              <a:rPr lang="en-US" altLang="ko-KR" sz="1150">
                <a:solidFill>
                  <a:srgbClr val="595959"/>
                </a:solidFill>
              </a:rPr>
              <a:t>AI(OnTick) + </a:t>
            </a:r>
            <a:r>
              <a:rPr lang="ko-KR" altLang="en-US" sz="1150">
                <a:solidFill>
                  <a:srgbClr val="595959"/>
                </a:solidFill>
              </a:rPr>
              <a:t>몬스터 배치를 스크립트로 정의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18F4C26-8E1E-4C44-B0FC-2BF4EAEC7CDE}"/>
              </a:ext>
            </a:extLst>
          </p:cNvPr>
          <p:cNvSpPr/>
          <p:nvPr/>
        </p:nvSpPr>
        <p:spPr>
          <a:xfrm>
            <a:off x="8915400" y="4419600"/>
            <a:ext cx="2514600" cy="20066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F458FD-49B3-4F04-8B8D-AE7D869C227A}"/>
              </a:ext>
            </a:extLst>
          </p:cNvPr>
          <p:cNvSpPr txBox="1"/>
          <p:nvPr/>
        </p:nvSpPr>
        <p:spPr>
          <a:xfrm>
            <a:off x="9652000" y="4648200"/>
            <a:ext cx="1625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E2841"/>
                </a:solidFill>
              </a:rPr>
              <a:t>채팅 </a:t>
            </a:r>
            <a:r>
              <a:rPr lang="en-US" altLang="ko-KR" sz="1500" b="1">
                <a:solidFill>
                  <a:srgbClr val="0E2841"/>
                </a:solidFill>
              </a:rPr>
              <a:t>&amp; </a:t>
            </a:r>
            <a:r>
              <a:rPr lang="ko-KR" altLang="en-US" sz="1500" b="1">
                <a:solidFill>
                  <a:srgbClr val="0E2841"/>
                </a:solidFill>
              </a:rPr>
              <a:t>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AAC92E-BD83-42D8-BB99-8D2FD3692EC4}"/>
              </a:ext>
            </a:extLst>
          </p:cNvPr>
          <p:cNvSpPr txBox="1"/>
          <p:nvPr/>
        </p:nvSpPr>
        <p:spPr>
          <a:xfrm>
            <a:off x="9093200" y="5359400"/>
            <a:ext cx="2159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>
                <a:solidFill>
                  <a:srgbClr val="595959"/>
                </a:solidFill>
              </a:rPr>
              <a:t>채팅 </a:t>
            </a:r>
            <a:r>
              <a:rPr lang="en-US" altLang="ko-KR" sz="1150">
                <a:solidFill>
                  <a:srgbClr val="595959"/>
                </a:solidFill>
              </a:rPr>
              <a:t>+ </a:t>
            </a:r>
            <a:r>
              <a:rPr lang="ko-KR" altLang="en-US" sz="1150">
                <a:solidFill>
                  <a:srgbClr val="595959"/>
                </a:solidFill>
              </a:rPr>
              <a:t>피격</a:t>
            </a:r>
            <a:r>
              <a:rPr lang="en-US" altLang="ko-KR" sz="1150">
                <a:solidFill>
                  <a:srgbClr val="595959"/>
                </a:solidFill>
              </a:rPr>
              <a:t>/</a:t>
            </a:r>
            <a:r>
              <a:rPr lang="ko-KR" altLang="en-US" sz="1150">
                <a:solidFill>
                  <a:srgbClr val="595959"/>
                </a:solidFill>
              </a:rPr>
              <a:t>처치</a:t>
            </a:r>
            <a:r>
              <a:rPr lang="en-US" altLang="ko-KR" sz="1150">
                <a:solidFill>
                  <a:srgbClr val="595959"/>
                </a:solidFill>
              </a:rPr>
              <a:t>/</a:t>
            </a:r>
            <a:r>
              <a:rPr lang="ko-KR" altLang="en-US" sz="1150">
                <a:solidFill>
                  <a:srgbClr val="595959"/>
                </a:solidFill>
              </a:rPr>
              <a:t>경험치 전투 메시지 시야 내 브로드캐스트</a:t>
            </a:r>
          </a:p>
        </p:txBody>
      </p:sp>
      <p:pic>
        <p:nvPicPr>
          <p:cNvPr id="35" name="Graphic 35" descr="mov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9800" y="2286000"/>
            <a:ext cx="406400" cy="406400"/>
          </a:xfrm>
          <a:prstGeom prst="rect">
            <a:avLst/>
          </a:prstGeom>
        </p:spPr>
      </p:pic>
      <p:pic>
        <p:nvPicPr>
          <p:cNvPr id="36" name="Graphic 36" descr="wa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0" y="2286000"/>
            <a:ext cx="406400" cy="406400"/>
          </a:xfrm>
          <a:prstGeom prst="rect">
            <a:avLst/>
          </a:prstGeom>
        </p:spPr>
      </p:pic>
      <p:pic>
        <p:nvPicPr>
          <p:cNvPr id="37" name="Graphic 37" descr="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5400" y="2286000"/>
            <a:ext cx="406400" cy="406400"/>
          </a:xfrm>
          <a:prstGeom prst="rect">
            <a:avLst/>
          </a:prstGeom>
        </p:spPr>
      </p:pic>
      <p:pic>
        <p:nvPicPr>
          <p:cNvPr id="38" name="Graphic 38" descr="rou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3200" y="2286000"/>
            <a:ext cx="406400" cy="406400"/>
          </a:xfrm>
          <a:prstGeom prst="rect">
            <a:avLst/>
          </a:prstGeom>
        </p:spPr>
      </p:pic>
      <p:pic>
        <p:nvPicPr>
          <p:cNvPr id="39" name="Graphic 39" descr="comb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" y="4622800"/>
            <a:ext cx="406400" cy="406400"/>
          </a:xfrm>
          <a:prstGeom prst="rect">
            <a:avLst/>
          </a:prstGeom>
        </p:spPr>
      </p:pic>
      <p:pic>
        <p:nvPicPr>
          <p:cNvPr id="40" name="Graphic 40" descr="datab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0" y="4622800"/>
            <a:ext cx="406400" cy="406400"/>
          </a:xfrm>
          <a:prstGeom prst="rect">
            <a:avLst/>
          </a:prstGeom>
        </p:spPr>
      </p:pic>
      <p:pic>
        <p:nvPicPr>
          <p:cNvPr id="41" name="Graphic 41" descr="scrip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5400" y="4622800"/>
            <a:ext cx="406400" cy="406400"/>
          </a:xfrm>
          <a:prstGeom prst="rect">
            <a:avLst/>
          </a:prstGeom>
        </p:spPr>
      </p:pic>
      <p:pic>
        <p:nvPicPr>
          <p:cNvPr id="42" name="Graphic 42" descr="ch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93200" y="4622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1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58473-6883-DAD0-5415-E2011422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성능 최적화 </a:t>
            </a:r>
            <a:r>
              <a:rPr lang="en-US" altLang="ko-KR" dirty="0"/>
              <a:t>&amp; </a:t>
            </a:r>
            <a:r>
              <a:rPr lang="ko-KR" altLang="en-US" dirty="0" err="1"/>
              <a:t>동접</a:t>
            </a:r>
            <a:r>
              <a:rPr lang="ko-KR" altLang="en-US" dirty="0"/>
              <a:t> 측정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7BE7D-C7D5-44A7-9081-E2CA982ED8A8}"/>
              </a:ext>
            </a:extLst>
          </p:cNvPr>
          <p:cNvSpPr txBox="1"/>
          <p:nvPr/>
        </p:nvSpPr>
        <p:spPr>
          <a:xfrm>
            <a:off x="762000" y="2006600"/>
            <a:ext cx="596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156082"/>
                </a:solidFill>
              </a:rPr>
              <a:t>적용한 핵심 최적화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981CB09-1993-4F95-A01E-F4D5098C5967}"/>
              </a:ext>
            </a:extLst>
          </p:cNvPr>
          <p:cNvSpPr/>
          <p:nvPr/>
        </p:nvSpPr>
        <p:spPr>
          <a:xfrm>
            <a:off x="742950" y="24701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F1C49-8512-44A8-8681-572B12823E6C}"/>
              </a:ext>
            </a:extLst>
          </p:cNvPr>
          <p:cNvSpPr txBox="1"/>
          <p:nvPr/>
        </p:nvSpPr>
        <p:spPr>
          <a:xfrm>
            <a:off x="990600" y="24384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50" b="1">
                <a:solidFill>
                  <a:srgbClr val="0E2841"/>
                </a:solidFill>
              </a:rPr>
              <a:t>IOCP </a:t>
            </a:r>
            <a:r>
              <a:rPr lang="ko-KR" altLang="en-US" sz="1350" b="1">
                <a:solidFill>
                  <a:srgbClr val="0E2841"/>
                </a:solidFill>
              </a:rPr>
              <a:t>단일 통합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1E5C0-8C30-481F-B2C1-244298192F52}"/>
              </a:ext>
            </a:extLst>
          </p:cNvPr>
          <p:cNvSpPr txBox="1"/>
          <p:nvPr/>
        </p:nvSpPr>
        <p:spPr>
          <a:xfrm>
            <a:off x="990600" y="2679700"/>
            <a:ext cx="5740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 dirty="0">
                <a:solidFill>
                  <a:srgbClr val="595959"/>
                </a:solidFill>
              </a:rPr>
              <a:t>I/O·</a:t>
            </a:r>
            <a:r>
              <a:rPr lang="ko-KR" altLang="en-US" sz="1150" dirty="0">
                <a:solidFill>
                  <a:srgbClr val="595959"/>
                </a:solidFill>
              </a:rPr>
              <a:t>타이머</a:t>
            </a:r>
            <a:r>
              <a:rPr lang="en-US" altLang="ko-KR" sz="1150" dirty="0">
                <a:solidFill>
                  <a:srgbClr val="595959"/>
                </a:solidFill>
              </a:rPr>
              <a:t>·DB </a:t>
            </a:r>
            <a:r>
              <a:rPr lang="ko-KR" altLang="en-US" sz="1150" dirty="0">
                <a:solidFill>
                  <a:srgbClr val="595959"/>
                </a:solidFill>
              </a:rPr>
              <a:t>완료를 하나의 </a:t>
            </a:r>
            <a:r>
              <a:rPr lang="en-US" altLang="ko-KR" sz="1150" dirty="0">
                <a:solidFill>
                  <a:srgbClr val="595959"/>
                </a:solidFill>
              </a:rPr>
              <a:t>IOCP</a:t>
            </a:r>
            <a:r>
              <a:rPr lang="ko-KR" altLang="en-US" sz="1150" dirty="0">
                <a:solidFill>
                  <a:srgbClr val="595959"/>
                </a:solidFill>
              </a:rPr>
              <a:t>에서 워커가 일괄 소비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192CD3D-1EB3-43CF-8FB0-FA9DF7DF19D6}"/>
              </a:ext>
            </a:extLst>
          </p:cNvPr>
          <p:cNvSpPr/>
          <p:nvPr/>
        </p:nvSpPr>
        <p:spPr>
          <a:xfrm>
            <a:off x="742950" y="30289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1F1B04-29FE-415A-A6DC-D7193ED970AE}"/>
              </a:ext>
            </a:extLst>
          </p:cNvPr>
          <p:cNvSpPr txBox="1"/>
          <p:nvPr/>
        </p:nvSpPr>
        <p:spPr>
          <a:xfrm>
            <a:off x="990600" y="29972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50" b="1">
                <a:solidFill>
                  <a:srgbClr val="0E2841"/>
                </a:solidFill>
              </a:rPr>
              <a:t>섹터 기반 </a:t>
            </a:r>
            <a:r>
              <a:rPr lang="en-US" altLang="ko-KR" sz="1350" b="1">
                <a:solidFill>
                  <a:srgbClr val="0E2841"/>
                </a:solidFill>
              </a:rPr>
              <a:t>AOI</a:t>
            </a:r>
            <a:endParaRPr lang="ko-KR" altLang="en-US" sz="1350" b="1">
              <a:solidFill>
                <a:srgbClr val="0E284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DA2B8-6573-4F40-9F8C-E74E97566FA5}"/>
              </a:ext>
            </a:extLst>
          </p:cNvPr>
          <p:cNvSpPr txBox="1"/>
          <p:nvPr/>
        </p:nvSpPr>
        <p:spPr>
          <a:xfrm>
            <a:off x="990600" y="3238500"/>
            <a:ext cx="5740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>
                <a:solidFill>
                  <a:srgbClr val="595959"/>
                </a:solidFill>
              </a:rPr>
              <a:t>인접 </a:t>
            </a:r>
            <a:r>
              <a:rPr lang="en-US" altLang="ko-KR" sz="1150">
                <a:solidFill>
                  <a:srgbClr val="595959"/>
                </a:solidFill>
              </a:rPr>
              <a:t>9</a:t>
            </a:r>
            <a:r>
              <a:rPr lang="ko-KR" altLang="en-US" sz="1150">
                <a:solidFill>
                  <a:srgbClr val="595959"/>
                </a:solidFill>
              </a:rPr>
              <a:t>섹터만 검사 </a:t>
            </a:r>
            <a:r>
              <a:rPr lang="en-US" altLang="ko-KR" sz="1150">
                <a:solidFill>
                  <a:srgbClr val="595959"/>
                </a:solidFill>
              </a:rPr>
              <a:t>— </a:t>
            </a:r>
            <a:r>
              <a:rPr lang="ko-KR" altLang="en-US" sz="1150">
                <a:solidFill>
                  <a:srgbClr val="595959"/>
                </a:solidFill>
              </a:rPr>
              <a:t>전체 객체 순회 제거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4F7EC59-BAA6-4202-8EEB-82D90727DE0C}"/>
              </a:ext>
            </a:extLst>
          </p:cNvPr>
          <p:cNvSpPr/>
          <p:nvPr/>
        </p:nvSpPr>
        <p:spPr>
          <a:xfrm>
            <a:off x="742950" y="35877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D727D0-0A43-4A19-9748-D2F36F316904}"/>
              </a:ext>
            </a:extLst>
          </p:cNvPr>
          <p:cNvSpPr txBox="1"/>
          <p:nvPr/>
        </p:nvSpPr>
        <p:spPr>
          <a:xfrm>
            <a:off x="990600" y="35560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50" b="1">
                <a:solidFill>
                  <a:srgbClr val="0E2841"/>
                </a:solidFill>
              </a:rPr>
              <a:t>Lazy AI</a:t>
            </a:r>
            <a:endParaRPr lang="ko-KR" altLang="en-US" sz="1350" b="1">
              <a:solidFill>
                <a:srgbClr val="0E284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41DD2A-9505-46A2-993E-17BDCC9D10BC}"/>
              </a:ext>
            </a:extLst>
          </p:cNvPr>
          <p:cNvSpPr txBox="1"/>
          <p:nvPr/>
        </p:nvSpPr>
        <p:spPr>
          <a:xfrm>
            <a:off x="990600" y="3797300"/>
            <a:ext cx="5740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>
                <a:solidFill>
                  <a:srgbClr val="595959"/>
                </a:solidFill>
              </a:rPr>
              <a:t>플레이어 근처 </a:t>
            </a:r>
            <a:r>
              <a:rPr lang="en-US" altLang="ko-KR" sz="1150">
                <a:solidFill>
                  <a:srgbClr val="595959"/>
                </a:solidFill>
              </a:rPr>
              <a:t>NPC</a:t>
            </a:r>
            <a:r>
              <a:rPr lang="ko-KR" altLang="en-US" sz="1150">
                <a:solidFill>
                  <a:srgbClr val="595959"/>
                </a:solidFill>
              </a:rPr>
              <a:t>만 활성 → 활성 </a:t>
            </a:r>
            <a:r>
              <a:rPr lang="en-US" altLang="ko-KR" sz="1150">
                <a:solidFill>
                  <a:srgbClr val="595959"/>
                </a:solidFill>
              </a:rPr>
              <a:t>AI = </a:t>
            </a:r>
            <a:r>
              <a:rPr lang="ko-KR" altLang="en-US" sz="1150">
                <a:solidFill>
                  <a:srgbClr val="595959"/>
                </a:solidFill>
              </a:rPr>
              <a:t>동접에 비례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DBAEF42-E8B7-469B-9EDC-3986F0833208}"/>
              </a:ext>
            </a:extLst>
          </p:cNvPr>
          <p:cNvSpPr/>
          <p:nvPr/>
        </p:nvSpPr>
        <p:spPr>
          <a:xfrm>
            <a:off x="742950" y="41465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C196E-8E83-42C4-BE78-0532A304726B}"/>
              </a:ext>
            </a:extLst>
          </p:cNvPr>
          <p:cNvSpPr txBox="1"/>
          <p:nvPr/>
        </p:nvSpPr>
        <p:spPr>
          <a:xfrm>
            <a:off x="990600" y="41148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50" b="1">
                <a:solidFill>
                  <a:srgbClr val="0E2841"/>
                </a:solidFill>
              </a:rPr>
              <a:t>워커 로컬 </a:t>
            </a:r>
            <a:r>
              <a:rPr lang="en-US" altLang="ko-KR" sz="1350" b="1">
                <a:solidFill>
                  <a:srgbClr val="0E2841"/>
                </a:solidFill>
              </a:rPr>
              <a:t>Lua VM</a:t>
            </a:r>
            <a:endParaRPr lang="ko-KR" altLang="en-US" sz="1350" b="1">
              <a:solidFill>
                <a:srgbClr val="0E284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3C51A1-1827-4DA2-8CD4-CA732AD51D3B}"/>
              </a:ext>
            </a:extLst>
          </p:cNvPr>
          <p:cNvSpPr txBox="1"/>
          <p:nvPr/>
        </p:nvSpPr>
        <p:spPr>
          <a:xfrm>
            <a:off x="990600" y="4356100"/>
            <a:ext cx="5740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스레드별 </a:t>
            </a:r>
            <a:r>
              <a:rPr lang="en-US" altLang="ko-KR" sz="1150" dirty="0">
                <a:solidFill>
                  <a:srgbClr val="595959"/>
                </a:solidFill>
              </a:rPr>
              <a:t>VM</a:t>
            </a:r>
            <a:r>
              <a:rPr lang="ko-KR" altLang="en-US" sz="1150" dirty="0">
                <a:solidFill>
                  <a:srgbClr val="595959"/>
                </a:solidFill>
              </a:rPr>
              <a:t>으로 전역 </a:t>
            </a:r>
            <a:r>
              <a:rPr lang="en-US" altLang="ko-KR" sz="1150" dirty="0">
                <a:solidFill>
                  <a:srgbClr val="595959"/>
                </a:solidFill>
              </a:rPr>
              <a:t>Lua </a:t>
            </a:r>
            <a:r>
              <a:rPr lang="ko-KR" altLang="en-US" sz="1150" dirty="0" err="1">
                <a:solidFill>
                  <a:srgbClr val="595959"/>
                </a:solidFill>
              </a:rPr>
              <a:t>락</a:t>
            </a:r>
            <a:r>
              <a:rPr lang="ko-KR" altLang="en-US" sz="1150" dirty="0">
                <a:solidFill>
                  <a:srgbClr val="595959"/>
                </a:solidFill>
              </a:rPr>
              <a:t> 직렬화 제거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5E44043-E235-4C9E-85BB-FF37D7D2F4C1}"/>
              </a:ext>
            </a:extLst>
          </p:cNvPr>
          <p:cNvSpPr/>
          <p:nvPr/>
        </p:nvSpPr>
        <p:spPr>
          <a:xfrm>
            <a:off x="742950" y="47053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717BF5-6E02-44D9-8166-CCC1CA941FF5}"/>
              </a:ext>
            </a:extLst>
          </p:cNvPr>
          <p:cNvSpPr txBox="1"/>
          <p:nvPr/>
        </p:nvSpPr>
        <p:spPr>
          <a:xfrm>
            <a:off x="990600" y="46736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50" b="1">
                <a:solidFill>
                  <a:srgbClr val="0E2841"/>
                </a:solidFill>
              </a:rPr>
              <a:t>8</a:t>
            </a:r>
            <a:r>
              <a:rPr lang="ko-KR" altLang="en-US" sz="1350" b="1">
                <a:solidFill>
                  <a:srgbClr val="0E2841"/>
                </a:solidFill>
              </a:rPr>
              <a:t>샤드 타이머 </a:t>
            </a:r>
            <a:r>
              <a:rPr lang="en-US" altLang="ko-KR" sz="1350" b="1">
                <a:solidFill>
                  <a:srgbClr val="0E2841"/>
                </a:solidFill>
              </a:rPr>
              <a:t>/ </a:t>
            </a:r>
            <a:r>
              <a:rPr lang="ko-KR" altLang="en-US" sz="1350" b="1">
                <a:solidFill>
                  <a:srgbClr val="0E2841"/>
                </a:solidFill>
              </a:rPr>
              <a:t>송신풀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6B7054-A87E-4A85-9852-5B188D26D567}"/>
              </a:ext>
            </a:extLst>
          </p:cNvPr>
          <p:cNvSpPr txBox="1"/>
          <p:nvPr/>
        </p:nvSpPr>
        <p:spPr>
          <a:xfrm>
            <a:off x="990600" y="4914900"/>
            <a:ext cx="5740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단일 스레드</a:t>
            </a:r>
            <a:r>
              <a:rPr lang="en-US" altLang="ko-KR" sz="1150" dirty="0">
                <a:solidFill>
                  <a:srgbClr val="595959"/>
                </a:solidFill>
              </a:rPr>
              <a:t>·</a:t>
            </a:r>
            <a:r>
              <a:rPr lang="ko-KR" altLang="en-US" sz="1150" dirty="0">
                <a:solidFill>
                  <a:srgbClr val="595959"/>
                </a:solidFill>
              </a:rPr>
              <a:t>전역 </a:t>
            </a:r>
            <a:r>
              <a:rPr lang="ko-KR" altLang="en-US" sz="1150" dirty="0" err="1">
                <a:solidFill>
                  <a:srgbClr val="595959"/>
                </a:solidFill>
              </a:rPr>
              <a:t>락</a:t>
            </a:r>
            <a:r>
              <a:rPr lang="ko-KR" altLang="en-US" sz="1150" dirty="0">
                <a:solidFill>
                  <a:srgbClr val="595959"/>
                </a:solidFill>
              </a:rPr>
              <a:t> 병목을 </a:t>
            </a:r>
            <a:r>
              <a:rPr lang="en-US" altLang="ko-KR" sz="1150" dirty="0">
                <a:solidFill>
                  <a:srgbClr val="595959"/>
                </a:solidFill>
              </a:rPr>
              <a:t>8way </a:t>
            </a:r>
            <a:r>
              <a:rPr lang="ko-KR" altLang="en-US" sz="1150" dirty="0">
                <a:solidFill>
                  <a:srgbClr val="595959"/>
                </a:solidFill>
              </a:rPr>
              <a:t>분산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D9AC150-A92D-488E-B269-0E221475E4B1}"/>
              </a:ext>
            </a:extLst>
          </p:cNvPr>
          <p:cNvSpPr/>
          <p:nvPr/>
        </p:nvSpPr>
        <p:spPr>
          <a:xfrm>
            <a:off x="742950" y="52641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4BC561-A173-4863-B68E-E1AC1E40F69E}"/>
              </a:ext>
            </a:extLst>
          </p:cNvPr>
          <p:cNvSpPr txBox="1"/>
          <p:nvPr/>
        </p:nvSpPr>
        <p:spPr>
          <a:xfrm>
            <a:off x="990600" y="52324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50" b="1" dirty="0">
                <a:solidFill>
                  <a:srgbClr val="0E2841"/>
                </a:solidFill>
              </a:rPr>
              <a:t>세션 송신 </a:t>
            </a:r>
            <a:r>
              <a:rPr lang="ko-KR" altLang="en-US" sz="1350" b="1" dirty="0" err="1">
                <a:solidFill>
                  <a:srgbClr val="0E2841"/>
                </a:solidFill>
              </a:rPr>
              <a:t>코얼레싱</a:t>
            </a:r>
            <a:endParaRPr lang="ko-KR" altLang="en-US" sz="1350" b="1" dirty="0">
              <a:solidFill>
                <a:srgbClr val="0E284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82C1C3-96CB-4C2D-8184-B468C3B3B98D}"/>
              </a:ext>
            </a:extLst>
          </p:cNvPr>
          <p:cNvSpPr txBox="1"/>
          <p:nvPr/>
        </p:nvSpPr>
        <p:spPr>
          <a:xfrm>
            <a:off x="990600" y="5473700"/>
            <a:ext cx="5740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≤</a:t>
            </a:r>
            <a:r>
              <a:rPr lang="en-US" altLang="ko-KR" sz="1150" dirty="0">
                <a:solidFill>
                  <a:srgbClr val="595959"/>
                </a:solidFill>
              </a:rPr>
              <a:t>8KB</a:t>
            </a:r>
            <a:r>
              <a:rPr lang="ko-KR" altLang="en-US" sz="1150" dirty="0">
                <a:solidFill>
                  <a:srgbClr val="595959"/>
                </a:solidFill>
              </a:rPr>
              <a:t>를 </a:t>
            </a:r>
            <a:r>
              <a:rPr lang="en-US" altLang="ko-KR" sz="1150" dirty="0">
                <a:solidFill>
                  <a:srgbClr val="595959"/>
                </a:solidFill>
              </a:rPr>
              <a:t>1</a:t>
            </a:r>
            <a:r>
              <a:rPr lang="ko-KR" altLang="en-US" sz="1150" dirty="0">
                <a:solidFill>
                  <a:srgbClr val="595959"/>
                </a:solidFill>
              </a:rPr>
              <a:t>회 </a:t>
            </a:r>
            <a:r>
              <a:rPr lang="en-US" altLang="ko-KR" sz="1150" dirty="0" err="1">
                <a:solidFill>
                  <a:srgbClr val="595959"/>
                </a:solidFill>
              </a:rPr>
              <a:t>WSASend</a:t>
            </a:r>
            <a:r>
              <a:rPr lang="ko-KR" altLang="en-US" sz="1150" dirty="0">
                <a:solidFill>
                  <a:srgbClr val="595959"/>
                </a:solidFill>
              </a:rPr>
              <a:t>로 묶어 송신 폭주 제거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299F916-AC2E-4252-AD51-CE6CFC876353}"/>
              </a:ext>
            </a:extLst>
          </p:cNvPr>
          <p:cNvSpPr/>
          <p:nvPr/>
        </p:nvSpPr>
        <p:spPr>
          <a:xfrm>
            <a:off x="742950" y="58229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92293E-BEC5-4331-8BD5-0A90BF4BDE96}"/>
              </a:ext>
            </a:extLst>
          </p:cNvPr>
          <p:cNvSpPr txBox="1"/>
          <p:nvPr/>
        </p:nvSpPr>
        <p:spPr>
          <a:xfrm>
            <a:off x="990600" y="57912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50" b="1" dirty="0">
                <a:solidFill>
                  <a:srgbClr val="0E2841"/>
                </a:solidFill>
              </a:rPr>
              <a:t>Object Pool · TCP_NODELAY</a:t>
            </a:r>
            <a:endParaRPr lang="ko-KR" altLang="en-US" sz="1350" b="1" dirty="0">
              <a:solidFill>
                <a:srgbClr val="0E284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0EF052-CDE4-4C20-906A-7A25F882CBC2}"/>
              </a:ext>
            </a:extLst>
          </p:cNvPr>
          <p:cNvSpPr txBox="1"/>
          <p:nvPr/>
        </p:nvSpPr>
        <p:spPr>
          <a:xfrm>
            <a:off x="990600" y="6032500"/>
            <a:ext cx="5740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 dirty="0">
                <a:solidFill>
                  <a:srgbClr val="595959"/>
                </a:solidFill>
              </a:rPr>
              <a:t>new/delete </a:t>
            </a:r>
            <a:r>
              <a:rPr lang="ko-KR" altLang="en-US" sz="1150" dirty="0">
                <a:solidFill>
                  <a:srgbClr val="595959"/>
                </a:solidFill>
              </a:rPr>
              <a:t>제거 </a:t>
            </a:r>
            <a:r>
              <a:rPr lang="en-US" altLang="ko-KR" sz="1150" dirty="0">
                <a:solidFill>
                  <a:srgbClr val="595959"/>
                </a:solidFill>
              </a:rPr>
              <a:t>+ Nagle </a:t>
            </a:r>
            <a:r>
              <a:rPr lang="ko-KR" altLang="en-US" sz="1150" dirty="0">
                <a:solidFill>
                  <a:srgbClr val="595959"/>
                </a:solidFill>
              </a:rPr>
              <a:t>지연 차단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E292281-996A-42BF-A7B0-B1469BE0266D}"/>
              </a:ext>
            </a:extLst>
          </p:cNvPr>
          <p:cNvSpPr/>
          <p:nvPr/>
        </p:nvSpPr>
        <p:spPr>
          <a:xfrm>
            <a:off x="6683983" y="2159000"/>
            <a:ext cx="4318000" cy="25400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5E2D86-878F-4781-8EF5-2328A8B857EC}"/>
              </a:ext>
            </a:extLst>
          </p:cNvPr>
          <p:cNvSpPr txBox="1"/>
          <p:nvPr/>
        </p:nvSpPr>
        <p:spPr>
          <a:xfrm>
            <a:off x="7112000" y="23368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BFE0EC"/>
                </a:solidFill>
              </a:rPr>
              <a:t>측정 결과 </a:t>
            </a:r>
            <a:r>
              <a:rPr lang="en-US" altLang="ko-KR" sz="1300" dirty="0">
                <a:solidFill>
                  <a:srgbClr val="BFE0EC"/>
                </a:solidFill>
              </a:rPr>
              <a:t>(localhost)</a:t>
            </a:r>
            <a:endParaRPr lang="ko-KR" altLang="en-US" sz="1300" dirty="0">
              <a:solidFill>
                <a:srgbClr val="BFE0EC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6CA37-008E-45BB-B54C-876AF7B08791}"/>
              </a:ext>
            </a:extLst>
          </p:cNvPr>
          <p:cNvSpPr txBox="1"/>
          <p:nvPr/>
        </p:nvSpPr>
        <p:spPr>
          <a:xfrm>
            <a:off x="7064983" y="2819400"/>
            <a:ext cx="35560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600" b="1" dirty="0">
                <a:solidFill>
                  <a:srgbClr val="FFFFFF"/>
                </a:solidFill>
              </a:rPr>
              <a:t>10,000+ clients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E42425-C063-46EB-8769-33BABA6869A3}"/>
              </a:ext>
            </a:extLst>
          </p:cNvPr>
          <p:cNvSpPr txBox="1"/>
          <p:nvPr/>
        </p:nvSpPr>
        <p:spPr>
          <a:xfrm>
            <a:off x="7429769" y="3733800"/>
            <a:ext cx="2826426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 dirty="0">
                <a:solidFill>
                  <a:srgbClr val="C9E2F7"/>
                </a:solidFill>
              </a:rPr>
              <a:t>delay</a:t>
            </a:r>
            <a:r>
              <a:rPr lang="ko-KR" altLang="en-US" sz="1400" b="1" dirty="0">
                <a:solidFill>
                  <a:srgbClr val="C9E2F7"/>
                </a:solidFill>
              </a:rPr>
              <a:t> 20ms · 목표 5,000의 2배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96BA89-302B-4F7E-BAE9-CDF9C1213FE4}"/>
              </a:ext>
            </a:extLst>
          </p:cNvPr>
          <p:cNvSpPr txBox="1"/>
          <p:nvPr/>
        </p:nvSpPr>
        <p:spPr>
          <a:xfrm>
            <a:off x="7262778" y="4140200"/>
            <a:ext cx="3160409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EAF2F5"/>
                </a:solidFill>
              </a:rPr>
              <a:t>서버 설계 상한치(MAX_PLAYERS) 도달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C2175B4-CE19-482D-AAF4-6CDF88DD4A3E}"/>
              </a:ext>
            </a:extLst>
          </p:cNvPr>
          <p:cNvSpPr/>
          <p:nvPr/>
        </p:nvSpPr>
        <p:spPr>
          <a:xfrm>
            <a:off x="6731000" y="4953000"/>
            <a:ext cx="4318000" cy="1066800"/>
          </a:xfrm>
          <a:prstGeom prst="roundRect">
            <a:avLst/>
          </a:prstGeom>
          <a:solidFill>
            <a:srgbClr val="F6F9FB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F97366-591E-4DB2-B3A4-BA5E064FE340}"/>
              </a:ext>
            </a:extLst>
          </p:cNvPr>
          <p:cNvSpPr txBox="1"/>
          <p:nvPr/>
        </p:nvSpPr>
        <p:spPr>
          <a:xfrm>
            <a:off x="6908800" y="5080000"/>
            <a:ext cx="3962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10,000에서 막힌 건 서버 성능이 아니라 설정한 상한치 — 그 시점 프로파일상 CPU는 여유. 병목은 네트워크 I/O(WSASend/recv)이며, 분리 머신 정식 측정은 향후 과제로 남김.</a:t>
            </a:r>
          </a:p>
        </p:txBody>
      </p:sp>
    </p:spTree>
    <p:extLst>
      <p:ext uri="{BB962C8B-B14F-4D97-AF65-F5344CB8AC3E}">
        <p14:creationId xmlns:p14="http://schemas.microsoft.com/office/powerpoint/2010/main" val="218941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6549670-83A7-6455-8C11-2E3837593DAC}"/>
              </a:ext>
            </a:extLst>
          </p:cNvPr>
          <p:cNvSpPr/>
          <p:nvPr/>
        </p:nvSpPr>
        <p:spPr>
          <a:xfrm>
            <a:off x="2347785" y="3286897"/>
            <a:ext cx="1886464" cy="1399403"/>
          </a:xfrm>
          <a:prstGeom prst="roundRect">
            <a:avLst/>
          </a:prstGeom>
          <a:solidFill>
            <a:srgbClr val="4A90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FFFFFF"/>
                </a:solidFill>
              </a:rPr>
              <a:t>마을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ADBD4D-9930-824E-5BEA-74F44CE3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추가 구현 요소 ①  </a:t>
            </a:r>
            <a:r>
              <a:rPr lang="en-US" altLang="ko-KR"/>
              <a:t>·  </a:t>
            </a:r>
            <a:r>
              <a:rPr lang="ko-KR" altLang="en-US"/>
              <a:t>월드 </a:t>
            </a:r>
            <a:r>
              <a:rPr lang="en-US" altLang="ko-KR"/>
              <a:t>&amp; </a:t>
            </a:r>
            <a:r>
              <a:rPr lang="ko-KR" altLang="en-US"/>
              <a:t>보스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F2F15-9F64-44AC-8A3D-D1CC45BD8E0B}"/>
              </a:ext>
            </a:extLst>
          </p:cNvPr>
          <p:cNvSpPr txBox="1"/>
          <p:nvPr/>
        </p:nvSpPr>
        <p:spPr>
          <a:xfrm>
            <a:off x="762000" y="20066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156082"/>
                </a:solidFill>
              </a:rPr>
              <a:t>4</a:t>
            </a:r>
            <a:r>
              <a:rPr lang="ko-KR" altLang="en-US" sz="1600" b="1">
                <a:solidFill>
                  <a:srgbClr val="156082"/>
                </a:solidFill>
              </a:rPr>
              <a:t>대 바이옴 </a:t>
            </a:r>
            <a:r>
              <a:rPr lang="en-US" altLang="ko-KR" sz="1600" b="1">
                <a:solidFill>
                  <a:srgbClr val="156082"/>
                </a:solidFill>
              </a:rPr>
              <a:t>(2,000² </a:t>
            </a:r>
            <a:r>
              <a:rPr lang="ko-KR" altLang="en-US" sz="1600" b="1">
                <a:solidFill>
                  <a:srgbClr val="156082"/>
                </a:solidFill>
              </a:rPr>
              <a:t>단일 월드</a:t>
            </a:r>
            <a:r>
              <a:rPr lang="en-US" altLang="ko-KR" sz="1600" b="1">
                <a:solidFill>
                  <a:srgbClr val="156082"/>
                </a:solidFill>
              </a:rPr>
              <a:t>)</a:t>
            </a:r>
            <a:endParaRPr lang="ko-KR" altLang="en-US" sz="1600" b="1">
              <a:solidFill>
                <a:srgbClr val="156082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A5DA808-5404-4C60-A1A6-57EAF0A5FE50}"/>
              </a:ext>
            </a:extLst>
          </p:cNvPr>
          <p:cNvSpPr/>
          <p:nvPr/>
        </p:nvSpPr>
        <p:spPr>
          <a:xfrm>
            <a:off x="533400" y="2497524"/>
            <a:ext cx="2489200" cy="1219200"/>
          </a:xfrm>
          <a:prstGeom prst="roundRect">
            <a:avLst/>
          </a:prstGeom>
          <a:solidFill>
            <a:srgbClr val="D6E4F0"/>
          </a:solidFill>
          <a:ln w="12700" cap="flat" cmpd="sng" algn="ctr">
            <a:solidFill>
              <a:srgbClr val="C9D6C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300" b="1" dirty="0">
                <a:solidFill>
                  <a:srgbClr val="0E2841"/>
                </a:solidFill>
              </a:rPr>
              <a:t>NW · </a:t>
            </a:r>
            <a:r>
              <a:rPr lang="ko-KR" altLang="en-US" sz="1300" b="1" dirty="0">
                <a:solidFill>
                  <a:srgbClr val="0E2841"/>
                </a:solidFill>
              </a:rPr>
              <a:t>설원
</a:t>
            </a:r>
            <a:r>
              <a:rPr lang="en-US" altLang="ko-KR" sz="1300" b="1" dirty="0" err="1">
                <a:solidFill>
                  <a:srgbClr val="0E2841"/>
                </a:solidFill>
              </a:rPr>
              <a:t>Lv</a:t>
            </a:r>
            <a:r>
              <a:rPr lang="en-US" altLang="ko-KR" sz="1300" b="1" dirty="0">
                <a:solidFill>
                  <a:srgbClr val="0E2841"/>
                </a:solidFill>
              </a:rPr>
              <a:t> 30–40 · </a:t>
            </a:r>
            <a:r>
              <a:rPr lang="en-US" altLang="ko-KR" sz="1300" b="1" dirty="0" err="1">
                <a:solidFill>
                  <a:srgbClr val="0E2841"/>
                </a:solidFill>
              </a:rPr>
              <a:t>IceDragon</a:t>
            </a:r>
            <a:r>
              <a:rPr lang="en-US" altLang="ko-KR" sz="1300" b="1" dirty="0">
                <a:solidFill>
                  <a:srgbClr val="0E2841"/>
                </a:solidFill>
              </a:rPr>
              <a:t> </a:t>
            </a:r>
            <a:r>
              <a:rPr lang="ko-KR" altLang="en-US" sz="1300" b="1" dirty="0">
                <a:solidFill>
                  <a:srgbClr val="0E2841"/>
                </a:solidFill>
              </a:rPr>
              <a:t>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364B0F9-8EFD-4833-ACC9-8C2C534EB47A}"/>
              </a:ext>
            </a:extLst>
          </p:cNvPr>
          <p:cNvSpPr/>
          <p:nvPr/>
        </p:nvSpPr>
        <p:spPr>
          <a:xfrm>
            <a:off x="3606800" y="2497524"/>
            <a:ext cx="2489200" cy="1219200"/>
          </a:xfrm>
          <a:prstGeom prst="roundRect">
            <a:avLst/>
          </a:prstGeom>
          <a:solidFill>
            <a:srgbClr val="F0E6D2"/>
          </a:solidFill>
          <a:ln w="12700" cap="flat" cmpd="sng" algn="ctr">
            <a:solidFill>
              <a:srgbClr val="C9D6C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</a:rPr>
              <a:t>NE · </a:t>
            </a:r>
            <a:r>
              <a:rPr lang="ko-KR" altLang="en-US" sz="1300" b="1">
                <a:solidFill>
                  <a:srgbClr val="0E2841"/>
                </a:solidFill>
              </a:rPr>
              <a:t>사막
</a:t>
            </a:r>
            <a:r>
              <a:rPr lang="en-US" altLang="ko-KR" sz="1300" b="1">
                <a:solidFill>
                  <a:srgbClr val="0E2841"/>
                </a:solidFill>
              </a:rPr>
              <a:t>Lv 20–30 · Sphinx </a:t>
            </a:r>
            <a:r>
              <a:rPr lang="ko-KR" altLang="en-US" sz="1300" b="1">
                <a:solidFill>
                  <a:srgbClr val="0E2841"/>
                </a:solidFill>
              </a:rPr>
              <a:t>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B5AF9D-8CC5-45AF-8FB0-DA2DAF47C209}"/>
              </a:ext>
            </a:extLst>
          </p:cNvPr>
          <p:cNvSpPr/>
          <p:nvPr/>
        </p:nvSpPr>
        <p:spPr>
          <a:xfrm>
            <a:off x="533400" y="4146550"/>
            <a:ext cx="2489200" cy="1219200"/>
          </a:xfrm>
          <a:prstGeom prst="roundRect">
            <a:avLst/>
          </a:prstGeom>
          <a:solidFill>
            <a:srgbClr val="DFF0DC"/>
          </a:solidFill>
          <a:ln w="12700" cap="flat" cmpd="sng" algn="ctr">
            <a:solidFill>
              <a:srgbClr val="C9D6C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</a:rPr>
              <a:t>SW · </a:t>
            </a:r>
            <a:r>
              <a:rPr lang="ko-KR" altLang="en-US" sz="1300" b="1">
                <a:solidFill>
                  <a:srgbClr val="0E2841"/>
                </a:solidFill>
              </a:rPr>
              <a:t>초원
</a:t>
            </a:r>
            <a:r>
              <a:rPr lang="en-US" altLang="ko-KR" sz="1300" b="1">
                <a:solidFill>
                  <a:srgbClr val="0E2841"/>
                </a:solidFill>
              </a:rPr>
              <a:t>Lv 1–10 · Slime </a:t>
            </a:r>
            <a:r>
              <a:rPr lang="ko-KR" altLang="en-US" sz="1300" b="1">
                <a:solidFill>
                  <a:srgbClr val="0E2841"/>
                </a:solidFill>
              </a:rPr>
              <a:t>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9E6595C-BC46-4602-847E-BB997CC0CD7A}"/>
              </a:ext>
            </a:extLst>
          </p:cNvPr>
          <p:cNvSpPr/>
          <p:nvPr/>
        </p:nvSpPr>
        <p:spPr>
          <a:xfrm>
            <a:off x="3556000" y="4146550"/>
            <a:ext cx="2489200" cy="1219200"/>
          </a:xfrm>
          <a:prstGeom prst="roundRect">
            <a:avLst/>
          </a:prstGeom>
          <a:solidFill>
            <a:srgbClr val="CDE5D0"/>
          </a:solidFill>
          <a:ln w="12700" cap="flat" cmpd="sng" algn="ctr">
            <a:solidFill>
              <a:srgbClr val="C9D6C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300" b="1" dirty="0">
                <a:solidFill>
                  <a:srgbClr val="0E2841"/>
                </a:solidFill>
              </a:rPr>
              <a:t>SE · </a:t>
            </a:r>
            <a:r>
              <a:rPr lang="ko-KR" altLang="en-US" sz="1300" b="1" dirty="0">
                <a:solidFill>
                  <a:srgbClr val="0E2841"/>
                </a:solidFill>
              </a:rPr>
              <a:t>숲
</a:t>
            </a:r>
            <a:r>
              <a:rPr lang="en-US" altLang="ko-KR" sz="1300" b="1" dirty="0" err="1">
                <a:solidFill>
                  <a:srgbClr val="0E2841"/>
                </a:solidFill>
              </a:rPr>
              <a:t>Lv</a:t>
            </a:r>
            <a:r>
              <a:rPr lang="en-US" altLang="ko-KR" sz="1300" b="1" dirty="0">
                <a:solidFill>
                  <a:srgbClr val="0E2841"/>
                </a:solidFill>
              </a:rPr>
              <a:t> 10–20 · </a:t>
            </a:r>
            <a:r>
              <a:rPr lang="en-US" altLang="ko-KR" sz="1300" b="1" dirty="0" err="1">
                <a:solidFill>
                  <a:srgbClr val="0E2841"/>
                </a:solidFill>
              </a:rPr>
              <a:t>ForestDrake</a:t>
            </a:r>
            <a:r>
              <a:rPr lang="en-US" altLang="ko-KR" sz="1300" b="1" dirty="0">
                <a:solidFill>
                  <a:srgbClr val="0E2841"/>
                </a:solidFill>
              </a:rPr>
              <a:t> </a:t>
            </a:r>
            <a:r>
              <a:rPr lang="ko-KR" altLang="en-US" sz="1300" b="1" dirty="0">
                <a:solidFill>
                  <a:srgbClr val="0E2841"/>
                </a:solidFill>
              </a:rPr>
              <a:t>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D24F8-8466-43E4-A30A-5556BF6A5D14}"/>
              </a:ext>
            </a:extLst>
          </p:cNvPr>
          <p:cNvSpPr txBox="1"/>
          <p:nvPr/>
        </p:nvSpPr>
        <p:spPr>
          <a:xfrm>
            <a:off x="711200" y="5932273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구역당 </a:t>
            </a:r>
            <a:r>
              <a:rPr lang="en-US" altLang="ko-KR" sz="1150" dirty="0">
                <a:solidFill>
                  <a:srgbClr val="595959"/>
                </a:solidFill>
              </a:rPr>
              <a:t>5</a:t>
            </a:r>
            <a:r>
              <a:rPr lang="ko-KR" altLang="en-US" sz="1150" dirty="0">
                <a:solidFill>
                  <a:srgbClr val="595959"/>
                </a:solidFill>
              </a:rPr>
              <a:t>만 마리 </a:t>
            </a:r>
            <a:r>
              <a:rPr lang="en-US" altLang="ko-KR" sz="1150" dirty="0">
                <a:solidFill>
                  <a:srgbClr val="595959"/>
                </a:solidFill>
              </a:rPr>
              <a:t>· </a:t>
            </a:r>
            <a:r>
              <a:rPr lang="ko-KR" altLang="en-US" sz="1150" dirty="0">
                <a:solidFill>
                  <a:srgbClr val="595959"/>
                </a:solidFill>
              </a:rPr>
              <a:t>중앙 </a:t>
            </a:r>
            <a:r>
              <a:rPr lang="en-US" altLang="ko-KR" sz="1150" dirty="0">
                <a:solidFill>
                  <a:srgbClr val="595959"/>
                </a:solidFill>
              </a:rPr>
              <a:t>Aetheria Village</a:t>
            </a:r>
            <a:r>
              <a:rPr lang="ko-KR" altLang="en-US" sz="1150" dirty="0">
                <a:solidFill>
                  <a:srgbClr val="595959"/>
                </a:solidFill>
              </a:rPr>
              <a:t>는 안전지대</a:t>
            </a:r>
            <a:r>
              <a:rPr lang="en-US" altLang="ko-KR" sz="1150" dirty="0">
                <a:solidFill>
                  <a:srgbClr val="595959"/>
                </a:solidFill>
              </a:rPr>
              <a:t>(</a:t>
            </a:r>
            <a:r>
              <a:rPr lang="ko-KR" altLang="en-US" sz="1150" dirty="0">
                <a:solidFill>
                  <a:srgbClr val="595959"/>
                </a:solidFill>
              </a:rPr>
              <a:t>퀘스트 장로</a:t>
            </a:r>
            <a:r>
              <a:rPr lang="en-US" altLang="ko-KR" sz="1150" dirty="0">
                <a:solidFill>
                  <a:srgbClr val="595959"/>
                </a:solidFill>
              </a:rPr>
              <a:t>)</a:t>
            </a:r>
            <a:endParaRPr lang="ko-KR" altLang="en-US" sz="1150" dirty="0">
              <a:solidFill>
                <a:srgbClr val="59595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54AAB-AF4D-457E-9EA3-BFDC9DC8C544}"/>
              </a:ext>
            </a:extLst>
          </p:cNvPr>
          <p:cNvSpPr txBox="1"/>
          <p:nvPr/>
        </p:nvSpPr>
        <p:spPr>
          <a:xfrm>
            <a:off x="6350000" y="2006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56082"/>
                </a:solidFill>
              </a:rPr>
              <a:t>보스 </a:t>
            </a:r>
            <a:r>
              <a:rPr lang="en-US" altLang="ko-KR" sz="1600" b="1">
                <a:solidFill>
                  <a:srgbClr val="156082"/>
                </a:solidFill>
              </a:rPr>
              <a:t>4</a:t>
            </a:r>
            <a:r>
              <a:rPr lang="ko-KR" altLang="en-US" sz="1600" b="1">
                <a:solidFill>
                  <a:srgbClr val="156082"/>
                </a:solidFill>
              </a:rPr>
              <a:t>종 </a:t>
            </a:r>
            <a:r>
              <a:rPr lang="en-US" altLang="ko-KR" sz="1600" b="1">
                <a:solidFill>
                  <a:srgbClr val="156082"/>
                </a:solidFill>
              </a:rPr>
              <a:t>· Lua </a:t>
            </a:r>
            <a:r>
              <a:rPr lang="ko-KR" altLang="en-US" sz="1600" b="1">
                <a:solidFill>
                  <a:srgbClr val="156082"/>
                </a:solidFill>
              </a:rPr>
              <a:t>스크립트 기반 동작 정의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4EB2C58-38A8-4F32-9C5C-1D0732D7C224}"/>
              </a:ext>
            </a:extLst>
          </p:cNvPr>
          <p:cNvSpPr/>
          <p:nvPr/>
        </p:nvSpPr>
        <p:spPr>
          <a:xfrm>
            <a:off x="6330950" y="48577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8EFD6-646E-4E90-8DFC-B0A197540358}"/>
              </a:ext>
            </a:extLst>
          </p:cNvPr>
          <p:cNvSpPr txBox="1"/>
          <p:nvPr/>
        </p:nvSpPr>
        <p:spPr>
          <a:xfrm>
            <a:off x="6578600" y="48260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50" b="1">
                <a:solidFill>
                  <a:srgbClr val="0E2841"/>
                </a:solidFill>
              </a:rPr>
              <a:t>2</a:t>
            </a:r>
            <a:r>
              <a:rPr lang="ko-KR" altLang="en-US" sz="1250" b="1">
                <a:solidFill>
                  <a:srgbClr val="0E2841"/>
                </a:solidFill>
              </a:rPr>
              <a:t>페이즈 분노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0D0B79-88E0-463D-8EB1-0909AFBA4636}"/>
              </a:ext>
            </a:extLst>
          </p:cNvPr>
          <p:cNvSpPr txBox="1"/>
          <p:nvPr/>
        </p:nvSpPr>
        <p:spPr>
          <a:xfrm>
            <a:off x="6578600" y="5054600"/>
            <a:ext cx="4851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595959"/>
                </a:solidFill>
              </a:rPr>
              <a:t>HP 50% </a:t>
            </a:r>
            <a:r>
              <a:rPr lang="ko-KR" altLang="en-US" sz="1100" dirty="0">
                <a:solidFill>
                  <a:srgbClr val="595959"/>
                </a:solidFill>
              </a:rPr>
              <a:t>이하 시 광폭화 </a:t>
            </a:r>
            <a:r>
              <a:rPr lang="en-US" altLang="ko-KR" sz="1100" dirty="0">
                <a:solidFill>
                  <a:srgbClr val="595959"/>
                </a:solidFill>
              </a:rPr>
              <a:t>+ </a:t>
            </a:r>
            <a:r>
              <a:rPr lang="ko-KR" altLang="en-US" sz="1100" dirty="0">
                <a:solidFill>
                  <a:srgbClr val="595959"/>
                </a:solidFill>
              </a:rPr>
              <a:t>도발 채팅 </a:t>
            </a:r>
            <a:r>
              <a:rPr lang="en-US" altLang="ko-KR" sz="1100" dirty="0">
                <a:solidFill>
                  <a:srgbClr val="595959"/>
                </a:solidFill>
              </a:rPr>
              <a:t>(</a:t>
            </a:r>
            <a:r>
              <a:rPr lang="ko-KR" altLang="en-US" sz="1100" dirty="0">
                <a:solidFill>
                  <a:srgbClr val="595959"/>
                </a:solidFill>
              </a:rPr>
              <a:t>임계 자동 보정</a:t>
            </a:r>
            <a:r>
              <a:rPr lang="en-US" altLang="ko-KR" sz="1100" dirty="0">
                <a:solidFill>
                  <a:srgbClr val="595959"/>
                </a:solidFill>
              </a:rPr>
              <a:t>)</a:t>
            </a:r>
            <a:endParaRPr lang="ko-KR" altLang="en-US" sz="1100" dirty="0">
              <a:solidFill>
                <a:srgbClr val="595959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37ACB74-A1AC-4024-8154-F7B1E02DD389}"/>
              </a:ext>
            </a:extLst>
          </p:cNvPr>
          <p:cNvSpPr/>
          <p:nvPr/>
        </p:nvSpPr>
        <p:spPr>
          <a:xfrm>
            <a:off x="6330950" y="53657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F95E68-2ABD-4E8C-B655-86AFC60A6890}"/>
              </a:ext>
            </a:extLst>
          </p:cNvPr>
          <p:cNvSpPr txBox="1"/>
          <p:nvPr/>
        </p:nvSpPr>
        <p:spPr>
          <a:xfrm>
            <a:off x="6578600" y="53340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50" b="1">
                <a:solidFill>
                  <a:srgbClr val="0E2841"/>
                </a:solidFill>
              </a:rPr>
              <a:t>AoE </a:t>
            </a:r>
            <a:r>
              <a:rPr lang="ko-KR" altLang="en-US" sz="1250" b="1">
                <a:solidFill>
                  <a:srgbClr val="0E2841"/>
                </a:solidFill>
              </a:rPr>
              <a:t>광역기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3DCE4-66B3-46D3-ADA6-23745D042A72}"/>
              </a:ext>
            </a:extLst>
          </p:cNvPr>
          <p:cNvSpPr txBox="1"/>
          <p:nvPr/>
        </p:nvSpPr>
        <p:spPr>
          <a:xfrm>
            <a:off x="6578600" y="5562600"/>
            <a:ext cx="4851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595959"/>
                </a:solidFill>
              </a:rPr>
              <a:t>5</a:t>
            </a:r>
            <a:r>
              <a:rPr lang="ko-KR" altLang="en-US" sz="1100">
                <a:solidFill>
                  <a:srgbClr val="595959"/>
                </a:solidFill>
              </a:rPr>
              <a:t>틱마다 반경 </a:t>
            </a:r>
            <a:r>
              <a:rPr lang="en-US" altLang="ko-KR" sz="1100">
                <a:solidFill>
                  <a:srgbClr val="595959"/>
                </a:solidFill>
              </a:rPr>
              <a:t>3</a:t>
            </a:r>
            <a:r>
              <a:rPr lang="ko-KR" altLang="en-US" sz="1100">
                <a:solidFill>
                  <a:srgbClr val="595959"/>
                </a:solidFill>
              </a:rPr>
              <a:t>칸 내 전 플레이어 광역 데미지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E96F890-1E97-4C80-BD86-BE3FB05AA488}"/>
              </a:ext>
            </a:extLst>
          </p:cNvPr>
          <p:cNvSpPr/>
          <p:nvPr/>
        </p:nvSpPr>
        <p:spPr>
          <a:xfrm>
            <a:off x="6330950" y="5873750"/>
            <a:ext cx="152400" cy="152400"/>
          </a:xfrm>
          <a:prstGeom prst="ellipse">
            <a:avLst/>
          </a:prstGeom>
          <a:solidFill>
            <a:srgbClr val="4A90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99391C-DDE4-4665-99C2-08D250CB5202}"/>
              </a:ext>
            </a:extLst>
          </p:cNvPr>
          <p:cNvSpPr txBox="1"/>
          <p:nvPr/>
        </p:nvSpPr>
        <p:spPr>
          <a:xfrm>
            <a:off x="6578600" y="58420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50" b="1">
                <a:solidFill>
                  <a:srgbClr val="0E2841"/>
                </a:solidFill>
              </a:rPr>
              <a:t>고난도 보상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24F2E9-F921-4717-8231-A1597C91B5FD}"/>
              </a:ext>
            </a:extLst>
          </p:cNvPr>
          <p:cNvSpPr txBox="1"/>
          <p:nvPr/>
        </p:nvSpPr>
        <p:spPr>
          <a:xfrm>
            <a:off x="6578600" y="6070600"/>
            <a:ext cx="4851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</a:rPr>
              <a:t>처치 </a:t>
            </a:r>
            <a:r>
              <a:rPr lang="en-US" altLang="ko-KR" sz="1100">
                <a:solidFill>
                  <a:srgbClr val="595959"/>
                </a:solidFill>
              </a:rPr>
              <a:t>EXP ×20 · 5</a:t>
            </a:r>
            <a:r>
              <a:rPr lang="ko-KR" altLang="en-US" sz="1100">
                <a:solidFill>
                  <a:srgbClr val="595959"/>
                </a:solidFill>
              </a:rPr>
              <a:t>분 리스폰 </a:t>
            </a:r>
            <a:r>
              <a:rPr lang="en-US" altLang="ko-KR" sz="1100">
                <a:solidFill>
                  <a:srgbClr val="595959"/>
                </a:solidFill>
              </a:rPr>
              <a:t>· </a:t>
            </a:r>
            <a:r>
              <a:rPr lang="ko-KR" altLang="en-US" sz="1100">
                <a:solidFill>
                  <a:srgbClr val="595959"/>
                </a:solidFill>
              </a:rPr>
              <a:t>어그로 범위 </a:t>
            </a:r>
            <a:r>
              <a:rPr lang="en-US" altLang="ko-KR" sz="1100">
                <a:solidFill>
                  <a:srgbClr val="595959"/>
                </a:solidFill>
              </a:rPr>
              <a:t>2</a:t>
            </a:r>
            <a:r>
              <a:rPr lang="ko-KR" altLang="en-US" sz="1100">
                <a:solidFill>
                  <a:srgbClr val="595959"/>
                </a:solidFill>
              </a:rPr>
              <a:t>배</a:t>
            </a:r>
          </a:p>
        </p:txBody>
      </p:sp>
      <p:sp>
        <p:nvSpPr>
          <p:cNvPr id="130" name="BossScriptPanel"/>
          <p:cNvSpPr/>
          <p:nvPr/>
        </p:nvSpPr>
        <p:spPr>
          <a:xfrm>
            <a:off x="6350000" y="2451100"/>
            <a:ext cx="5080000" cy="2235200"/>
          </a:xfrm>
          <a:prstGeom prst="roundRect">
            <a:avLst>
              <a:gd name="adj" fmla="val 8000"/>
            </a:avLst>
          </a:prstGeom>
          <a:solidFill>
            <a:srgbClr val="E9F1F9"/>
          </a:solidFill>
          <a:ln>
            <a:noFill/>
          </a:ln>
        </p:spPr>
        <p:txBody>
          <a:bodyPr lIns="182880" tIns="137160" rIns="182880" bIns="137160" anchor="ctr"/>
          <a:lstStyle/>
          <a:p>
            <a:pPr algn="l"/>
            <a:r>
              <a:rPr lang="ko-KR" altLang="en-US" sz="1300" b="1" dirty="0">
                <a:solidFill>
                  <a:srgbClr val="156082"/>
                </a:solidFill>
              </a:rPr>
              <a:t>보스 스크립팅 구조</a:t>
            </a:r>
          </a:p>
          <a:p>
            <a:pPr algn="l">
              <a:spcBef>
                <a:spcPts val="500"/>
              </a:spcBef>
              <a:buNone/>
            </a:pPr>
            <a:r>
              <a:rPr lang="ko-KR" altLang="en-US" sz="1150" dirty="0">
                <a:solidFill>
                  <a:srgbClr val="404040"/>
                </a:solidFill>
              </a:rPr>
              <a:t>·  보스 동작은 개체별 Lua 스크립트로 정의</a:t>
            </a:r>
          </a:p>
          <a:p>
            <a:pPr algn="l">
              <a:spcBef>
                <a:spcPts val="400"/>
              </a:spcBef>
              <a:buNone/>
            </a:pPr>
            <a:r>
              <a:rPr lang="ko-KR" altLang="en-US" sz="1150" dirty="0">
                <a:solidFill>
                  <a:srgbClr val="404040"/>
                </a:solidFill>
              </a:rPr>
              <a:t>·  페이즈 전환 임계·광폭화·도발 대사를 스크립트에서 선언</a:t>
            </a:r>
          </a:p>
          <a:p>
            <a:pPr algn="l">
              <a:spcBef>
                <a:spcPts val="400"/>
              </a:spcBef>
              <a:buNone/>
            </a:pPr>
            <a:r>
              <a:rPr lang="ko-KR" altLang="en-US" sz="1150" dirty="0">
                <a:solidFill>
                  <a:srgbClr val="404040"/>
                </a:solidFill>
              </a:rPr>
              <a:t>·  광역기 주기·범위 등 패턴 수치도 스크립트로 제어</a:t>
            </a:r>
          </a:p>
          <a:p>
            <a:pPr algn="l">
              <a:spcBef>
                <a:spcPts val="400"/>
              </a:spcBef>
              <a:buNone/>
            </a:pPr>
            <a:r>
              <a:rPr lang="ko-KR" altLang="en-US" sz="1150" dirty="0">
                <a:solidFill>
                  <a:srgbClr val="404040"/>
                </a:solidFill>
              </a:rPr>
              <a:t>·  서버 코드 수정 없이 패턴·밸런스 조정 가능</a:t>
            </a:r>
          </a:p>
        </p:txBody>
      </p:sp>
    </p:spTree>
    <p:extLst>
      <p:ext uri="{BB962C8B-B14F-4D97-AF65-F5344CB8AC3E}">
        <p14:creationId xmlns:p14="http://schemas.microsoft.com/office/powerpoint/2010/main" val="246072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A08B0-B2EF-CCD8-58D5-C6684FDD0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구현 요소 ②  </a:t>
            </a:r>
            <a:r>
              <a:rPr lang="en-US" altLang="ko-KR" dirty="0"/>
              <a:t>·  </a:t>
            </a:r>
            <a:r>
              <a:rPr lang="ko-KR" altLang="en-US" dirty="0"/>
              <a:t>게임 시스템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DD8B0-DA90-4537-BAD6-72FFF3FA4396}"/>
              </a:ext>
            </a:extLst>
          </p:cNvPr>
          <p:cNvSpPr txBox="1"/>
          <p:nvPr/>
        </p:nvSpPr>
        <p:spPr>
          <a:xfrm>
            <a:off x="762000" y="19812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56082"/>
                </a:solidFill>
              </a:rPr>
              <a:t>스킬 시스템 </a:t>
            </a:r>
            <a:r>
              <a:rPr lang="en-US" altLang="ko-KR" sz="1600" b="1" dirty="0">
                <a:solidFill>
                  <a:srgbClr val="156082"/>
                </a:solidFill>
              </a:rPr>
              <a:t>3</a:t>
            </a:r>
            <a:r>
              <a:rPr lang="ko-KR" altLang="en-US" sz="1600" b="1" dirty="0">
                <a:solidFill>
                  <a:srgbClr val="156082"/>
                </a:solidFill>
              </a:rPr>
              <a:t>종 </a:t>
            </a:r>
            <a:r>
              <a:rPr lang="en-US" altLang="ko-KR" sz="1600" b="1" dirty="0">
                <a:solidFill>
                  <a:srgbClr val="156082"/>
                </a:solidFill>
              </a:rPr>
              <a:t>+ MP</a:t>
            </a:r>
            <a:endParaRPr lang="ko-KR" altLang="en-US" sz="1600" b="1" dirty="0">
              <a:solidFill>
                <a:srgbClr val="15608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D649B-9C7C-43DF-A035-62732557E5CD}"/>
              </a:ext>
            </a:extLst>
          </p:cNvPr>
          <p:cNvSpPr txBox="1"/>
          <p:nvPr/>
        </p:nvSpPr>
        <p:spPr>
          <a:xfrm>
            <a:off x="3149600" y="2032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dirty="0">
                <a:solidFill>
                  <a:srgbClr val="595959"/>
                </a:solidFill>
              </a:rPr>
              <a:t>MP </a:t>
            </a:r>
            <a:r>
              <a:rPr lang="ko-KR" altLang="en-US" sz="1200" dirty="0">
                <a:solidFill>
                  <a:srgbClr val="595959"/>
                </a:solidFill>
              </a:rPr>
              <a:t>최대 </a:t>
            </a:r>
            <a:r>
              <a:rPr lang="en-US" altLang="ko-KR" sz="1200" dirty="0">
                <a:solidFill>
                  <a:srgbClr val="595959"/>
                </a:solidFill>
              </a:rPr>
              <a:t>100 · 3</a:t>
            </a:r>
            <a:r>
              <a:rPr lang="ko-KR" altLang="en-US" sz="1200" dirty="0">
                <a:solidFill>
                  <a:srgbClr val="595959"/>
                </a:solidFill>
              </a:rPr>
              <a:t>초마다 </a:t>
            </a:r>
            <a:r>
              <a:rPr lang="en-US" altLang="ko-KR" sz="1200" dirty="0">
                <a:solidFill>
                  <a:srgbClr val="595959"/>
                </a:solidFill>
              </a:rPr>
              <a:t>+10 </a:t>
            </a:r>
            <a:r>
              <a:rPr lang="ko-KR" altLang="en-US" sz="1200" dirty="0">
                <a:solidFill>
                  <a:srgbClr val="595959"/>
                </a:solidFill>
              </a:rPr>
              <a:t>회복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4ED1625-D705-438E-AE49-FE1BE870FFE3}"/>
              </a:ext>
            </a:extLst>
          </p:cNvPr>
          <p:cNvSpPr/>
          <p:nvPr/>
        </p:nvSpPr>
        <p:spPr>
          <a:xfrm>
            <a:off x="762000" y="2387600"/>
            <a:ext cx="3429000" cy="889000"/>
          </a:xfrm>
          <a:prstGeom prst="roundRect">
            <a:avLst/>
          </a:prstGeom>
          <a:solidFill>
            <a:srgbClr val="EAF2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DF15A-24A8-4BCB-8E77-73C3CED60F2B}"/>
              </a:ext>
            </a:extLst>
          </p:cNvPr>
          <p:cNvSpPr txBox="1"/>
          <p:nvPr/>
        </p:nvSpPr>
        <p:spPr>
          <a:xfrm>
            <a:off x="965200" y="2540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 dirty="0" err="1">
                <a:solidFill>
                  <a:srgbClr val="156082"/>
                </a:solidFill>
              </a:rPr>
              <a:t>광역기</a:t>
            </a:r>
            <a:r>
              <a:rPr lang="ko-KR" altLang="en-US" sz="1400" b="1" dirty="0">
                <a:solidFill>
                  <a:srgbClr val="156082"/>
                </a:solidFill>
              </a:rPr>
              <a:t> </a:t>
            </a:r>
            <a:r>
              <a:rPr lang="en-US" altLang="ko-KR" sz="1400" b="1" dirty="0">
                <a:solidFill>
                  <a:srgbClr val="156082"/>
                </a:solidFill>
              </a:rPr>
              <a:t>– </a:t>
            </a:r>
            <a:r>
              <a:rPr lang="ko-KR" altLang="en-US" sz="1400" b="1" dirty="0">
                <a:solidFill>
                  <a:srgbClr val="156082"/>
                </a:solidFill>
              </a:rPr>
              <a:t>화염 마법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47EA0-AD8F-4123-BEDB-68EC4C5F4B74}"/>
              </a:ext>
            </a:extLst>
          </p:cNvPr>
          <p:cNvSpPr txBox="1"/>
          <p:nvPr/>
        </p:nvSpPr>
        <p:spPr>
          <a:xfrm>
            <a:off x="965200" y="2844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dirty="0">
                <a:solidFill>
                  <a:srgbClr val="404040"/>
                </a:solidFill>
              </a:rPr>
              <a:t>5×5 </a:t>
            </a:r>
            <a:r>
              <a:rPr lang="ko-KR" altLang="en-US" sz="1200" dirty="0">
                <a:solidFill>
                  <a:srgbClr val="404040"/>
                </a:solidFill>
              </a:rPr>
              <a:t>범위 </a:t>
            </a:r>
            <a:r>
              <a:rPr lang="en-US" altLang="ko-KR" sz="1200" dirty="0">
                <a:solidFill>
                  <a:srgbClr val="404040"/>
                </a:solidFill>
              </a:rPr>
              <a:t>· level×15 · MP 5 · 3</a:t>
            </a:r>
            <a:r>
              <a:rPr lang="ko-KR" altLang="en-US" sz="1200" dirty="0">
                <a:solidFill>
                  <a:srgbClr val="404040"/>
                </a:solidFill>
              </a:rPr>
              <a:t>초 </a:t>
            </a:r>
            <a:r>
              <a:rPr lang="ko-KR" altLang="en-US" sz="1200" dirty="0" err="1">
                <a:solidFill>
                  <a:srgbClr val="404040"/>
                </a:solidFill>
              </a:rPr>
              <a:t>쿨타임</a:t>
            </a:r>
            <a:endParaRPr lang="ko-KR" altLang="en-US" sz="1200" dirty="0">
              <a:solidFill>
                <a:srgbClr val="40404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6D389B3-E850-4E91-9861-B392BDC2D85A}"/>
              </a:ext>
            </a:extLst>
          </p:cNvPr>
          <p:cNvSpPr/>
          <p:nvPr/>
        </p:nvSpPr>
        <p:spPr>
          <a:xfrm>
            <a:off x="4381500" y="2387600"/>
            <a:ext cx="3429000" cy="889000"/>
          </a:xfrm>
          <a:prstGeom prst="roundRect">
            <a:avLst/>
          </a:prstGeom>
          <a:solidFill>
            <a:srgbClr val="EAF2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BB1928-0E64-46E5-A8D3-F889769E9AE1}"/>
              </a:ext>
            </a:extLst>
          </p:cNvPr>
          <p:cNvSpPr txBox="1"/>
          <p:nvPr/>
        </p:nvSpPr>
        <p:spPr>
          <a:xfrm>
            <a:off x="4584700" y="2540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156082"/>
                </a:solidFill>
              </a:rPr>
              <a:t>단일 방향 스킬 </a:t>
            </a:r>
            <a:r>
              <a:rPr lang="en-US" altLang="ko-KR" sz="1400" b="1" dirty="0">
                <a:solidFill>
                  <a:srgbClr val="156082"/>
                </a:solidFill>
              </a:rPr>
              <a:t>– </a:t>
            </a:r>
            <a:r>
              <a:rPr lang="ko-KR" altLang="en-US" sz="1400" b="1" dirty="0">
                <a:solidFill>
                  <a:srgbClr val="156082"/>
                </a:solidFill>
              </a:rPr>
              <a:t>빛 마법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02541-CB12-4831-BC77-1C807F932635}"/>
              </a:ext>
            </a:extLst>
          </p:cNvPr>
          <p:cNvSpPr txBox="1"/>
          <p:nvPr/>
        </p:nvSpPr>
        <p:spPr>
          <a:xfrm>
            <a:off x="4584700" y="2844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dirty="0">
                <a:solidFill>
                  <a:srgbClr val="404040"/>
                </a:solidFill>
              </a:rPr>
              <a:t>직선 </a:t>
            </a:r>
            <a:r>
              <a:rPr lang="en-US" altLang="ko-KR" sz="1200" dirty="0">
                <a:solidFill>
                  <a:srgbClr val="404040"/>
                </a:solidFill>
              </a:rPr>
              <a:t>5</a:t>
            </a:r>
            <a:r>
              <a:rPr lang="ko-KR" altLang="en-US" sz="1200" dirty="0">
                <a:solidFill>
                  <a:srgbClr val="404040"/>
                </a:solidFill>
              </a:rPr>
              <a:t>칸 </a:t>
            </a:r>
            <a:r>
              <a:rPr lang="en-US" altLang="ko-KR" sz="1200" dirty="0">
                <a:solidFill>
                  <a:srgbClr val="404040"/>
                </a:solidFill>
              </a:rPr>
              <a:t>· level×20 · MP 5 · 3</a:t>
            </a:r>
            <a:r>
              <a:rPr lang="ko-KR" altLang="en-US" sz="1200" dirty="0">
                <a:solidFill>
                  <a:srgbClr val="404040"/>
                </a:solidFill>
              </a:rPr>
              <a:t>초 </a:t>
            </a:r>
            <a:r>
              <a:rPr lang="ko-KR" altLang="en-US" sz="1200" dirty="0" err="1">
                <a:solidFill>
                  <a:srgbClr val="404040"/>
                </a:solidFill>
              </a:rPr>
              <a:t>쿨타임</a:t>
            </a:r>
            <a:endParaRPr lang="ko-KR" altLang="en-US" sz="1200" dirty="0">
              <a:solidFill>
                <a:srgbClr val="40404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890182C-1430-46C0-A0AF-507D71D79711}"/>
              </a:ext>
            </a:extLst>
          </p:cNvPr>
          <p:cNvSpPr/>
          <p:nvPr/>
        </p:nvSpPr>
        <p:spPr>
          <a:xfrm>
            <a:off x="8001000" y="2387600"/>
            <a:ext cx="3429000" cy="889000"/>
          </a:xfrm>
          <a:prstGeom prst="roundRect">
            <a:avLst/>
          </a:prstGeom>
          <a:solidFill>
            <a:srgbClr val="EAF2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D50FC-38A1-43CB-8ADC-CA9DCA24094E}"/>
              </a:ext>
            </a:extLst>
          </p:cNvPr>
          <p:cNvSpPr txBox="1"/>
          <p:nvPr/>
        </p:nvSpPr>
        <p:spPr>
          <a:xfrm>
            <a:off x="8204200" y="25400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156082"/>
                </a:solidFill>
              </a:rPr>
              <a:t>회복 마법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48DB9-94D4-4AF7-AB14-0BEC47939562}"/>
              </a:ext>
            </a:extLst>
          </p:cNvPr>
          <p:cNvSpPr txBox="1"/>
          <p:nvPr/>
        </p:nvSpPr>
        <p:spPr>
          <a:xfrm>
            <a:off x="8204200" y="2844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dirty="0" err="1">
                <a:solidFill>
                  <a:srgbClr val="404040"/>
                </a:solidFill>
              </a:rPr>
              <a:t>maxHP</a:t>
            </a:r>
            <a:r>
              <a:rPr lang="en-US" altLang="ko-KR" sz="1200" dirty="0">
                <a:solidFill>
                  <a:srgbClr val="404040"/>
                </a:solidFill>
              </a:rPr>
              <a:t> 30% · MP 10 · 10</a:t>
            </a:r>
            <a:r>
              <a:rPr lang="ko-KR" altLang="en-US" sz="1200" dirty="0">
                <a:solidFill>
                  <a:srgbClr val="404040"/>
                </a:solidFill>
              </a:rPr>
              <a:t>초 </a:t>
            </a:r>
            <a:r>
              <a:rPr lang="ko-KR" altLang="en-US" sz="1200" dirty="0" err="1">
                <a:solidFill>
                  <a:srgbClr val="404040"/>
                </a:solidFill>
              </a:rPr>
              <a:t>쿨타임</a:t>
            </a:r>
            <a:endParaRPr lang="ko-KR" altLang="en-US" sz="1200" dirty="0">
              <a:solidFill>
                <a:srgbClr val="404040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041A346-5E10-4710-A4EE-292EF0635EB9}"/>
              </a:ext>
            </a:extLst>
          </p:cNvPr>
          <p:cNvSpPr/>
          <p:nvPr/>
        </p:nvSpPr>
        <p:spPr>
          <a:xfrm>
            <a:off x="762000" y="3759200"/>
            <a:ext cx="2514600" cy="243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0CA8FA-8142-4EA3-B255-98A43C7D4F01}"/>
              </a:ext>
            </a:extLst>
          </p:cNvPr>
          <p:cNvSpPr txBox="1"/>
          <p:nvPr/>
        </p:nvSpPr>
        <p:spPr>
          <a:xfrm>
            <a:off x="1447800" y="3987800"/>
            <a:ext cx="1701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</a:rPr>
              <a:t>파티 시스템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12100E-9DD1-49F7-AB4E-DB501E4CCEE3}"/>
              </a:ext>
            </a:extLst>
          </p:cNvPr>
          <p:cNvSpPr txBox="1"/>
          <p:nvPr/>
        </p:nvSpPr>
        <p:spPr>
          <a:xfrm>
            <a:off x="939799" y="4953000"/>
            <a:ext cx="2289783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초대</a:t>
            </a:r>
            <a:r>
              <a:rPr lang="en-US" altLang="ko-KR" sz="1150" dirty="0">
                <a:solidFill>
                  <a:srgbClr val="595959"/>
                </a:solidFill>
              </a:rPr>
              <a:t>·</a:t>
            </a:r>
            <a:r>
              <a:rPr lang="ko-KR" altLang="en-US" sz="1150" dirty="0">
                <a:solidFill>
                  <a:srgbClr val="595959"/>
                </a:solidFill>
              </a:rPr>
              <a:t>수락</a:t>
            </a:r>
            <a:r>
              <a:rPr lang="en-US" altLang="ko-KR" sz="1150" dirty="0">
                <a:solidFill>
                  <a:srgbClr val="595959"/>
                </a:solidFill>
              </a:rPr>
              <a:t>·</a:t>
            </a:r>
            <a:r>
              <a:rPr lang="ko-KR" altLang="en-US" sz="1150" dirty="0">
                <a:solidFill>
                  <a:srgbClr val="595959"/>
                </a:solidFill>
              </a:rPr>
              <a:t>거절</a:t>
            </a:r>
            <a:r>
              <a:rPr lang="en-US" altLang="ko-KR" sz="1150" dirty="0">
                <a:solidFill>
                  <a:srgbClr val="595959"/>
                </a:solidFill>
              </a:rPr>
              <a:t>·</a:t>
            </a:r>
            <a:r>
              <a:rPr lang="ko-KR" altLang="en-US" sz="1150" dirty="0">
                <a:solidFill>
                  <a:srgbClr val="595959"/>
                </a:solidFill>
              </a:rPr>
              <a:t>탈퇴 </a:t>
            </a:r>
            <a:r>
              <a:rPr lang="en-US" altLang="ko-KR" sz="1150" dirty="0">
                <a:solidFill>
                  <a:srgbClr val="595959"/>
                </a:solidFill>
              </a:rPr>
              <a:t>(</a:t>
            </a:r>
            <a:r>
              <a:rPr lang="ko-KR" altLang="en-US" sz="1150" dirty="0">
                <a:solidFill>
                  <a:srgbClr val="595959"/>
                </a:solidFill>
              </a:rPr>
              <a:t>최대 </a:t>
            </a:r>
            <a:r>
              <a:rPr lang="en-US" altLang="ko-KR" sz="1150" dirty="0">
                <a:solidFill>
                  <a:srgbClr val="595959"/>
                </a:solidFill>
              </a:rPr>
              <a:t>4</a:t>
            </a:r>
            <a:r>
              <a:rPr lang="ko-KR" altLang="en-US" sz="1150" dirty="0">
                <a:solidFill>
                  <a:srgbClr val="595959"/>
                </a:solidFill>
              </a:rPr>
              <a:t>인</a:t>
            </a:r>
            <a:r>
              <a:rPr lang="en-US" altLang="ko-KR" sz="1150" dirty="0">
                <a:solidFill>
                  <a:srgbClr val="595959"/>
                </a:solidFill>
              </a:rPr>
              <a:t>) </a:t>
            </a:r>
          </a:p>
          <a:p>
            <a:pPr algn="l"/>
            <a:r>
              <a:rPr lang="en-US" altLang="ko-KR" sz="1150" dirty="0">
                <a:solidFill>
                  <a:srgbClr val="595959"/>
                </a:solidFill>
              </a:rPr>
              <a:t>NPC </a:t>
            </a:r>
            <a:r>
              <a:rPr lang="ko-KR" altLang="en-US" sz="1150" dirty="0">
                <a:solidFill>
                  <a:srgbClr val="595959"/>
                </a:solidFill>
              </a:rPr>
              <a:t>처치 시 경험치 균등 공유 </a:t>
            </a:r>
            <a:r>
              <a:rPr lang="en-US" altLang="ko-KR" sz="1150" dirty="0">
                <a:solidFill>
                  <a:srgbClr val="595959"/>
                </a:solidFill>
              </a:rPr>
              <a:t>+ </a:t>
            </a:r>
          </a:p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파티 </a:t>
            </a:r>
            <a:r>
              <a:rPr lang="en-US" altLang="ko-KR" sz="1150" dirty="0">
                <a:solidFill>
                  <a:srgbClr val="595959"/>
                </a:solidFill>
              </a:rPr>
              <a:t>HP </a:t>
            </a:r>
            <a:r>
              <a:rPr lang="ko-KR" altLang="en-US" sz="1150" dirty="0">
                <a:solidFill>
                  <a:srgbClr val="595959"/>
                </a:solidFill>
              </a:rPr>
              <a:t>실시간 동기화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87124F8-7BBB-456E-804A-092ADC9F41C6}"/>
              </a:ext>
            </a:extLst>
          </p:cNvPr>
          <p:cNvSpPr/>
          <p:nvPr/>
        </p:nvSpPr>
        <p:spPr>
          <a:xfrm>
            <a:off x="3479800" y="3759200"/>
            <a:ext cx="2514600" cy="243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885B4A-4F6E-4270-9DD3-CD3FB701691D}"/>
              </a:ext>
            </a:extLst>
          </p:cNvPr>
          <p:cNvSpPr txBox="1"/>
          <p:nvPr/>
        </p:nvSpPr>
        <p:spPr>
          <a:xfrm>
            <a:off x="4165600" y="3987800"/>
            <a:ext cx="1701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0E2841"/>
                </a:solidFill>
              </a:rPr>
              <a:t>아이템</a:t>
            </a:r>
            <a:r>
              <a:rPr lang="en-US" altLang="ko-KR" sz="1400" b="1" dirty="0">
                <a:solidFill>
                  <a:srgbClr val="0E2841"/>
                </a:solidFill>
              </a:rPr>
              <a:t>·</a:t>
            </a:r>
            <a:r>
              <a:rPr lang="ko-KR" altLang="en-US" sz="1400" b="1" dirty="0">
                <a:solidFill>
                  <a:srgbClr val="0E2841"/>
                </a:solidFill>
              </a:rPr>
              <a:t>인벤토리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391371-99A2-49C3-914D-BC69ADC42116}"/>
              </a:ext>
            </a:extLst>
          </p:cNvPr>
          <p:cNvSpPr txBox="1"/>
          <p:nvPr/>
        </p:nvSpPr>
        <p:spPr>
          <a:xfrm>
            <a:off x="3657600" y="4953000"/>
            <a:ext cx="2159000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소모품 스택</a:t>
            </a:r>
            <a:r>
              <a:rPr lang="en-US" altLang="ko-KR" sz="1150" dirty="0">
                <a:solidFill>
                  <a:srgbClr val="595959"/>
                </a:solidFill>
              </a:rPr>
              <a:t>(</a:t>
            </a:r>
            <a:r>
              <a:rPr lang="ko-KR" altLang="en-US" sz="1150" dirty="0">
                <a:solidFill>
                  <a:srgbClr val="595959"/>
                </a:solidFill>
              </a:rPr>
              <a:t>최대 </a:t>
            </a:r>
            <a:r>
              <a:rPr lang="en-US" altLang="ko-KR" sz="1150" dirty="0">
                <a:solidFill>
                  <a:srgbClr val="595959"/>
                </a:solidFill>
              </a:rPr>
              <a:t>99) </a:t>
            </a:r>
          </a:p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인벤토리 </a:t>
            </a:r>
            <a:r>
              <a:rPr lang="en-US" altLang="ko-KR" sz="1150" dirty="0">
                <a:solidFill>
                  <a:srgbClr val="595959"/>
                </a:solidFill>
              </a:rPr>
              <a:t>20</a:t>
            </a:r>
            <a:r>
              <a:rPr lang="ko-KR" altLang="en-US" sz="1150" dirty="0">
                <a:solidFill>
                  <a:srgbClr val="595959"/>
                </a:solidFill>
              </a:rPr>
              <a:t>슬롯 </a:t>
            </a:r>
            <a:r>
              <a:rPr lang="en-US" altLang="ko-KR" sz="1150" dirty="0">
                <a:solidFill>
                  <a:srgbClr val="595959"/>
                </a:solidFill>
              </a:rPr>
              <a:t>· </a:t>
            </a:r>
          </a:p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무기</a:t>
            </a:r>
            <a:r>
              <a:rPr lang="en-US" altLang="ko-KR" sz="1150" dirty="0">
                <a:solidFill>
                  <a:srgbClr val="595959"/>
                </a:solidFill>
              </a:rPr>
              <a:t>/</a:t>
            </a:r>
            <a:r>
              <a:rPr lang="ko-KR" altLang="en-US" sz="1150" dirty="0" err="1">
                <a:solidFill>
                  <a:srgbClr val="595959"/>
                </a:solidFill>
              </a:rPr>
              <a:t>방어구</a:t>
            </a:r>
            <a:r>
              <a:rPr lang="ko-KR" altLang="en-US" sz="1150" dirty="0">
                <a:solidFill>
                  <a:srgbClr val="595959"/>
                </a:solidFill>
              </a:rPr>
              <a:t> 부위 장착</a:t>
            </a:r>
            <a:r>
              <a:rPr lang="en-US" altLang="ko-KR" sz="1150" dirty="0">
                <a:solidFill>
                  <a:srgbClr val="595959"/>
                </a:solidFill>
              </a:rPr>
              <a:t>·</a:t>
            </a:r>
            <a:r>
              <a:rPr lang="ko-KR" altLang="en-US" sz="1150" dirty="0">
                <a:solidFill>
                  <a:srgbClr val="595959"/>
                </a:solidFill>
              </a:rPr>
              <a:t>교체 </a:t>
            </a:r>
            <a:r>
              <a:rPr lang="en-US" altLang="ko-KR" sz="1150" dirty="0">
                <a:solidFill>
                  <a:srgbClr val="595959"/>
                </a:solidFill>
              </a:rPr>
              <a:t>· </a:t>
            </a:r>
            <a:r>
              <a:rPr lang="ko-KR" altLang="en-US" sz="1150" dirty="0">
                <a:solidFill>
                  <a:srgbClr val="595959"/>
                </a:solidFill>
              </a:rPr>
              <a:t>드롭</a:t>
            </a:r>
            <a:r>
              <a:rPr lang="en-US" altLang="ko-KR" sz="1150" dirty="0">
                <a:solidFill>
                  <a:srgbClr val="595959"/>
                </a:solidFill>
              </a:rPr>
              <a:t>/</a:t>
            </a:r>
            <a:r>
              <a:rPr lang="ko-KR" altLang="en-US" sz="1150" dirty="0">
                <a:solidFill>
                  <a:srgbClr val="595959"/>
                </a:solidFill>
              </a:rPr>
              <a:t>줍기</a:t>
            </a:r>
            <a:r>
              <a:rPr lang="en-US" altLang="ko-KR" sz="1150" dirty="0">
                <a:solidFill>
                  <a:srgbClr val="595959"/>
                </a:solidFill>
              </a:rPr>
              <a:t>/</a:t>
            </a:r>
            <a:r>
              <a:rPr lang="ko-KR" altLang="en-US" sz="1150" dirty="0">
                <a:solidFill>
                  <a:srgbClr val="595959"/>
                </a:solidFill>
              </a:rPr>
              <a:t>버리기</a:t>
            </a:r>
            <a:endParaRPr lang="en-US" altLang="ko-KR" sz="1150" dirty="0">
              <a:solidFill>
                <a:srgbClr val="595959"/>
              </a:solidFill>
            </a:endParaRPr>
          </a:p>
          <a:p>
            <a:pPr algn="l"/>
            <a:r>
              <a:rPr lang="en-US" altLang="ko-KR" sz="1150" dirty="0">
                <a:solidFill>
                  <a:srgbClr val="595959"/>
                </a:solidFill>
              </a:rPr>
              <a:t>DB </a:t>
            </a:r>
            <a:r>
              <a:rPr lang="ko-KR" altLang="en-US" sz="1150" dirty="0">
                <a:solidFill>
                  <a:srgbClr val="595959"/>
                </a:solidFill>
              </a:rPr>
              <a:t>저장</a:t>
            </a:r>
            <a:endParaRPr lang="en-US" altLang="ko-KR" sz="1150" dirty="0">
              <a:solidFill>
                <a:srgbClr val="595959"/>
              </a:solidFill>
            </a:endParaRPr>
          </a:p>
          <a:p>
            <a:pPr algn="l"/>
            <a:endParaRPr lang="ko-KR" altLang="en-US" sz="1150" dirty="0">
              <a:solidFill>
                <a:srgbClr val="595959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0D70B9-F7F8-4A20-A290-AC3EDD89662C}"/>
              </a:ext>
            </a:extLst>
          </p:cNvPr>
          <p:cNvSpPr/>
          <p:nvPr/>
        </p:nvSpPr>
        <p:spPr>
          <a:xfrm>
            <a:off x="6197600" y="3759200"/>
            <a:ext cx="2514600" cy="243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B54F73-68A6-4395-9111-BD213A56BA23}"/>
              </a:ext>
            </a:extLst>
          </p:cNvPr>
          <p:cNvSpPr txBox="1"/>
          <p:nvPr/>
        </p:nvSpPr>
        <p:spPr>
          <a:xfrm>
            <a:off x="6883400" y="3987800"/>
            <a:ext cx="1701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E2841"/>
                </a:solidFill>
              </a:rPr>
              <a:t>퀘스트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1A0DC1-BDD4-42A8-9BBB-A33071E4F162}"/>
              </a:ext>
            </a:extLst>
          </p:cNvPr>
          <p:cNvSpPr txBox="1"/>
          <p:nvPr/>
        </p:nvSpPr>
        <p:spPr>
          <a:xfrm>
            <a:off x="6375400" y="4953000"/>
            <a:ext cx="2159000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 dirty="0">
                <a:solidFill>
                  <a:srgbClr val="595959"/>
                </a:solidFill>
              </a:rPr>
              <a:t>3</a:t>
            </a:r>
            <a:r>
              <a:rPr lang="ko-KR" altLang="en-US" sz="1150" dirty="0">
                <a:solidFill>
                  <a:srgbClr val="595959"/>
                </a:solidFill>
              </a:rPr>
              <a:t>단 연쇄 사냥</a:t>
            </a:r>
            <a:r>
              <a:rPr lang="en-US" altLang="ko-KR" sz="1150" dirty="0">
                <a:solidFill>
                  <a:srgbClr val="595959"/>
                </a:solidFill>
              </a:rPr>
              <a:t>(Slime3→Rat5→Goblin5) · NPC </a:t>
            </a:r>
            <a:r>
              <a:rPr lang="ko-KR" altLang="en-US" sz="1150" dirty="0">
                <a:solidFill>
                  <a:srgbClr val="595959"/>
                </a:solidFill>
              </a:rPr>
              <a:t>장로 대화 </a:t>
            </a:r>
            <a:r>
              <a:rPr lang="en-US" altLang="ko-KR" sz="1150" dirty="0">
                <a:solidFill>
                  <a:srgbClr val="595959"/>
                </a:solidFill>
              </a:rPr>
              <a:t>· </a:t>
            </a:r>
            <a:r>
              <a:rPr lang="ko-KR" altLang="en-US" sz="1150" dirty="0">
                <a:solidFill>
                  <a:srgbClr val="595959"/>
                </a:solidFill>
              </a:rPr>
              <a:t>진행 동기화 </a:t>
            </a:r>
            <a:r>
              <a:rPr lang="en-US" altLang="ko-KR" sz="1150" dirty="0">
                <a:solidFill>
                  <a:srgbClr val="595959"/>
                </a:solidFill>
              </a:rPr>
              <a:t>· DB </a:t>
            </a:r>
            <a:r>
              <a:rPr lang="ko-KR" altLang="en-US" sz="1150" dirty="0">
                <a:solidFill>
                  <a:srgbClr val="595959"/>
                </a:solidFill>
              </a:rPr>
              <a:t>저장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5CA047D-74D0-4F4B-BF3C-D9D70CEF6159}"/>
              </a:ext>
            </a:extLst>
          </p:cNvPr>
          <p:cNvSpPr/>
          <p:nvPr/>
        </p:nvSpPr>
        <p:spPr>
          <a:xfrm>
            <a:off x="8915400" y="3759200"/>
            <a:ext cx="2514600" cy="2438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C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44C99C-3941-416B-A026-DA57ADA20F48}"/>
              </a:ext>
            </a:extLst>
          </p:cNvPr>
          <p:cNvSpPr txBox="1"/>
          <p:nvPr/>
        </p:nvSpPr>
        <p:spPr>
          <a:xfrm>
            <a:off x="9601200" y="3987800"/>
            <a:ext cx="1701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0E2841"/>
                </a:solidFill>
              </a:rPr>
              <a:t>스크립트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7C7B59-E974-4564-9F4A-0F37B66EB949}"/>
              </a:ext>
            </a:extLst>
          </p:cNvPr>
          <p:cNvSpPr txBox="1"/>
          <p:nvPr/>
        </p:nvSpPr>
        <p:spPr>
          <a:xfrm>
            <a:off x="8915400" y="4978400"/>
            <a:ext cx="2540000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50" dirty="0">
                <a:solidFill>
                  <a:srgbClr val="595959"/>
                </a:solidFill>
              </a:rPr>
              <a:t>Lua</a:t>
            </a:r>
            <a:r>
              <a:rPr lang="ko-KR" altLang="en-US" sz="1150" dirty="0">
                <a:solidFill>
                  <a:srgbClr val="595959"/>
                </a:solidFill>
              </a:rPr>
              <a:t>로 </a:t>
            </a:r>
            <a:r>
              <a:rPr lang="en-US" altLang="ko-KR" sz="1150" dirty="0">
                <a:solidFill>
                  <a:srgbClr val="595959"/>
                </a:solidFill>
              </a:rPr>
              <a:t>20</a:t>
            </a:r>
            <a:r>
              <a:rPr lang="ko-KR" altLang="en-US" sz="1150" dirty="0">
                <a:solidFill>
                  <a:srgbClr val="595959"/>
                </a:solidFill>
              </a:rPr>
              <a:t>만 몬스터 배치 </a:t>
            </a:r>
            <a:r>
              <a:rPr lang="en-US" altLang="ko-KR" sz="1150" dirty="0">
                <a:solidFill>
                  <a:srgbClr val="595959"/>
                </a:solidFill>
              </a:rPr>
              <a:t>+ </a:t>
            </a:r>
          </a:p>
          <a:p>
            <a:pPr algn="l"/>
            <a:r>
              <a:rPr lang="ko-KR" altLang="en-US" sz="1150" dirty="0">
                <a:solidFill>
                  <a:srgbClr val="595959"/>
                </a:solidFill>
              </a:rPr>
              <a:t>보스 패턴 </a:t>
            </a:r>
            <a:r>
              <a:rPr lang="en-US" altLang="ko-KR" sz="1150" dirty="0">
                <a:solidFill>
                  <a:srgbClr val="595959"/>
                </a:solidFill>
              </a:rPr>
              <a:t>AI(</a:t>
            </a:r>
            <a:r>
              <a:rPr lang="ko-KR" altLang="en-US" sz="1150" dirty="0">
                <a:solidFill>
                  <a:srgbClr val="595959"/>
                </a:solidFill>
              </a:rPr>
              <a:t>이동</a:t>
            </a:r>
            <a:r>
              <a:rPr lang="en-US" altLang="ko-KR" sz="1150" dirty="0">
                <a:solidFill>
                  <a:srgbClr val="595959"/>
                </a:solidFill>
              </a:rPr>
              <a:t>·</a:t>
            </a:r>
            <a:r>
              <a:rPr lang="ko-KR" altLang="en-US" sz="1150" dirty="0">
                <a:solidFill>
                  <a:srgbClr val="595959"/>
                </a:solidFill>
              </a:rPr>
              <a:t>채팅</a:t>
            </a:r>
            <a:r>
              <a:rPr lang="en-US" altLang="ko-KR" sz="1150" dirty="0">
                <a:solidFill>
                  <a:srgbClr val="595959"/>
                </a:solidFill>
              </a:rPr>
              <a:t>·</a:t>
            </a:r>
            <a:r>
              <a:rPr lang="ko-KR" altLang="en-US" sz="1150" dirty="0" err="1">
                <a:solidFill>
                  <a:srgbClr val="595959"/>
                </a:solidFill>
              </a:rPr>
              <a:t>광역기</a:t>
            </a:r>
            <a:r>
              <a:rPr lang="en-US" altLang="ko-KR" sz="1150" dirty="0">
                <a:solidFill>
                  <a:srgbClr val="595959"/>
                </a:solidFill>
              </a:rPr>
              <a:t>) </a:t>
            </a:r>
            <a:r>
              <a:rPr lang="ko-KR" altLang="en-US" sz="1150" dirty="0">
                <a:solidFill>
                  <a:srgbClr val="595959"/>
                </a:solidFill>
              </a:rPr>
              <a:t>정의</a:t>
            </a:r>
          </a:p>
        </p:txBody>
      </p:sp>
      <p:pic>
        <p:nvPicPr>
          <p:cNvPr id="34" name="Graphic 34" descr="par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3987800"/>
            <a:ext cx="381000" cy="381000"/>
          </a:xfrm>
          <a:prstGeom prst="rect">
            <a:avLst/>
          </a:prstGeom>
        </p:spPr>
      </p:pic>
      <p:pic>
        <p:nvPicPr>
          <p:cNvPr id="35" name="Graphic 35" descr="it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0" y="3987800"/>
            <a:ext cx="381000" cy="381000"/>
          </a:xfrm>
          <a:prstGeom prst="rect">
            <a:avLst/>
          </a:prstGeom>
        </p:spPr>
      </p:pic>
      <p:pic>
        <p:nvPicPr>
          <p:cNvPr id="36" name="Graphic 36" descr="que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3987800"/>
            <a:ext cx="381000" cy="381000"/>
          </a:xfrm>
          <a:prstGeom prst="rect">
            <a:avLst/>
          </a:prstGeom>
        </p:spPr>
      </p:pic>
      <p:pic>
        <p:nvPicPr>
          <p:cNvPr id="37" name="Graphic 37" descr="scrip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8600" y="39878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92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E23E-1DD4-1429-DC70-1E28A409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한계 </a:t>
            </a:r>
            <a:r>
              <a:rPr lang="en-US" altLang="ko-KR" dirty="0"/>
              <a:t>&amp; </a:t>
            </a:r>
            <a:r>
              <a:rPr lang="ko-KR" altLang="en-US" dirty="0"/>
              <a:t>향후 개선할 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0B6722-E297-491D-828C-F2EE127EDB82}"/>
              </a:ext>
            </a:extLst>
          </p:cNvPr>
          <p:cNvSpPr/>
          <p:nvPr/>
        </p:nvSpPr>
        <p:spPr>
          <a:xfrm>
            <a:off x="5994400" y="2108200"/>
            <a:ext cx="19050" cy="340360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937C3-11B8-480E-9403-C5A56235079F}"/>
              </a:ext>
            </a:extLst>
          </p:cNvPr>
          <p:cNvSpPr txBox="1"/>
          <p:nvPr/>
        </p:nvSpPr>
        <p:spPr>
          <a:xfrm>
            <a:off x="762000" y="20574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56082"/>
                </a:solidFill>
              </a:rPr>
              <a:t>현재 한계 </a:t>
            </a:r>
            <a:r>
              <a:rPr lang="en-US" altLang="ko-KR" sz="1600" b="1" dirty="0">
                <a:solidFill>
                  <a:srgbClr val="156082"/>
                </a:solidFill>
              </a:rPr>
              <a:t>&amp; </a:t>
            </a:r>
            <a:r>
              <a:rPr lang="ko-KR" altLang="en-US" sz="1600" b="1" dirty="0">
                <a:solidFill>
                  <a:srgbClr val="156082"/>
                </a:solidFill>
              </a:rPr>
              <a:t>향후 과제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3D248-5C1E-4A4E-B166-23B51688D981}"/>
              </a:ext>
            </a:extLst>
          </p:cNvPr>
          <p:cNvSpPr txBox="1"/>
          <p:nvPr/>
        </p:nvSpPr>
        <p:spPr>
          <a:xfrm>
            <a:off x="762000" y="2489200"/>
            <a:ext cx="5080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404040"/>
                </a:solidFill>
              </a:rPr>
              <a:t>·  </a:t>
            </a:r>
            <a:r>
              <a:rPr lang="ko-KR" altLang="en-US" sz="1300" dirty="0">
                <a:solidFill>
                  <a:srgbClr val="404040"/>
                </a:solidFill>
              </a:rPr>
              <a:t>분리 머신 </a:t>
            </a:r>
            <a:r>
              <a:rPr lang="en-US" altLang="ko-KR" sz="1300" dirty="0">
                <a:solidFill>
                  <a:srgbClr val="404040"/>
                </a:solidFill>
              </a:rPr>
              <a:t>5,000 CCU · </a:t>
            </a:r>
            <a:r>
              <a:rPr lang="ko-KR" altLang="en-US" sz="1300" dirty="0">
                <a:solidFill>
                  <a:srgbClr val="404040"/>
                </a:solidFill>
              </a:rPr>
              <a:t>지연</a:t>
            </a:r>
            <a:r>
              <a:rPr lang="en-US" altLang="ko-KR" sz="1300" dirty="0">
                <a:solidFill>
                  <a:srgbClr val="404040"/>
                </a:solidFill>
              </a:rPr>
              <a:t>&lt;100ms </a:t>
            </a:r>
            <a:r>
              <a:rPr lang="ko-KR" altLang="en-US" sz="1300" dirty="0">
                <a:solidFill>
                  <a:srgbClr val="404040"/>
                </a:solidFill>
              </a:rPr>
              <a:t>정식 측정은 향후 과제
   </a:t>
            </a:r>
            <a:r>
              <a:rPr lang="en-US" altLang="ko-KR" sz="1300" dirty="0">
                <a:solidFill>
                  <a:srgbClr val="404040"/>
                </a:solidFill>
              </a:rPr>
              <a:t>(localhost 최대 10,000 CCU @ 20ms </a:t>
            </a:r>
            <a:r>
              <a:rPr lang="ko-KR" altLang="en-US" sz="1300" dirty="0">
                <a:solidFill>
                  <a:srgbClr val="404040"/>
                </a:solidFill>
              </a:rPr>
              <a:t>달성</a:t>
            </a:r>
            <a:r>
              <a:rPr lang="en-US" altLang="ko-KR" sz="1300" dirty="0">
                <a:solidFill>
                  <a:srgbClr val="404040"/>
                </a:solidFill>
              </a:rPr>
              <a:t>)
·  </a:t>
            </a:r>
            <a:r>
              <a:rPr lang="ko-KR" altLang="en-US" sz="1300" dirty="0">
                <a:solidFill>
                  <a:srgbClr val="404040"/>
                </a:solidFill>
              </a:rPr>
              <a:t>추가 병렬화 여지 </a:t>
            </a:r>
            <a:r>
              <a:rPr lang="en-US" altLang="ko-KR" sz="1300" dirty="0">
                <a:solidFill>
                  <a:srgbClr val="404040"/>
                </a:solidFill>
              </a:rPr>
              <a:t>— NPC </a:t>
            </a:r>
            <a:r>
              <a:rPr lang="ko-KR" altLang="en-US" sz="1300" dirty="0" err="1">
                <a:solidFill>
                  <a:srgbClr val="404040"/>
                </a:solidFill>
              </a:rPr>
              <a:t>틱</a:t>
            </a:r>
            <a:r>
              <a:rPr lang="ko-KR" altLang="en-US" sz="1300" dirty="0">
                <a:solidFill>
                  <a:srgbClr val="404040"/>
                </a:solidFill>
              </a:rPr>
              <a:t> </a:t>
            </a:r>
            <a:r>
              <a:rPr lang="ko-KR" altLang="en-US" sz="1300" dirty="0" err="1">
                <a:solidFill>
                  <a:srgbClr val="404040"/>
                </a:solidFill>
              </a:rPr>
              <a:t>배칭</a:t>
            </a:r>
            <a:r>
              <a:rPr lang="ko-KR" altLang="en-US" sz="1300" dirty="0">
                <a:solidFill>
                  <a:srgbClr val="404040"/>
                </a:solidFill>
              </a:rPr>
              <a:t> </a:t>
            </a:r>
            <a:r>
              <a:rPr lang="en-US" altLang="ko-KR" sz="1300" dirty="0">
                <a:solidFill>
                  <a:srgbClr val="404040"/>
                </a:solidFill>
              </a:rPr>
              <a:t>/ LOD, </a:t>
            </a:r>
          </a:p>
          <a:p>
            <a:pPr algn="l"/>
            <a:r>
              <a:rPr lang="en-US" altLang="ko-KR" sz="1300" dirty="0">
                <a:solidFill>
                  <a:srgbClr val="404040"/>
                </a:solidFill>
              </a:rPr>
              <a:t>	             </a:t>
            </a:r>
            <a:r>
              <a:rPr lang="ko-KR" altLang="en-US" sz="1300" dirty="0">
                <a:solidFill>
                  <a:srgbClr val="404040"/>
                </a:solidFill>
              </a:rPr>
              <a:t>섹터 단위 </a:t>
            </a:r>
            <a:r>
              <a:rPr lang="en-US" altLang="ko-KR" sz="1300" dirty="0">
                <a:solidFill>
                  <a:srgbClr val="404040"/>
                </a:solidFill>
              </a:rPr>
              <a:t>Read-Write </a:t>
            </a:r>
            <a:r>
              <a:rPr lang="ko-KR" altLang="en-US" sz="1300" dirty="0" err="1">
                <a:solidFill>
                  <a:srgbClr val="404040"/>
                </a:solidFill>
              </a:rPr>
              <a:t>락</a:t>
            </a:r>
            <a:r>
              <a:rPr lang="en-US" altLang="ko-KR" sz="1300" dirty="0">
                <a:solidFill>
                  <a:srgbClr val="404040"/>
                </a:solidFill>
              </a:rPr>
              <a:t>
·  </a:t>
            </a:r>
            <a:r>
              <a:rPr lang="ko-KR" altLang="en-US" sz="1300" dirty="0">
                <a:solidFill>
                  <a:srgbClr val="404040"/>
                </a:solidFill>
              </a:rPr>
              <a:t>분리 환경에서 추가 </a:t>
            </a:r>
            <a:r>
              <a:rPr lang="ko-KR" altLang="en-US" sz="1300" dirty="0" err="1">
                <a:solidFill>
                  <a:srgbClr val="404040"/>
                </a:solidFill>
              </a:rPr>
              <a:t>동접</a:t>
            </a:r>
            <a:r>
              <a:rPr lang="ko-KR" altLang="en-US" sz="1300" dirty="0">
                <a:solidFill>
                  <a:srgbClr val="404040"/>
                </a:solidFill>
              </a:rPr>
              <a:t> 여유 확보 예상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EB273F-88EB-43F1-8CA9-5416F5EED440}"/>
              </a:ext>
            </a:extLst>
          </p:cNvPr>
          <p:cNvSpPr txBox="1"/>
          <p:nvPr/>
        </p:nvSpPr>
        <p:spPr>
          <a:xfrm>
            <a:off x="6248400" y="2057400"/>
            <a:ext cx="5181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156082"/>
                </a:solidFill>
              </a:rPr>
              <a:t>기획 대비 조정 </a:t>
            </a:r>
            <a:r>
              <a:rPr lang="en-US" altLang="ko-KR" sz="1600" b="1">
                <a:solidFill>
                  <a:srgbClr val="156082"/>
                </a:solidFill>
              </a:rPr>
              <a:t>(</a:t>
            </a:r>
            <a:r>
              <a:rPr lang="ko-KR" altLang="en-US" sz="1600" b="1">
                <a:solidFill>
                  <a:srgbClr val="156082"/>
                </a:solidFill>
              </a:rPr>
              <a:t>일정 우선순위</a:t>
            </a:r>
            <a:r>
              <a:rPr lang="en-US" altLang="ko-KR" sz="1600" b="1">
                <a:solidFill>
                  <a:srgbClr val="156082"/>
                </a:solidFill>
              </a:rPr>
              <a:t>)</a:t>
            </a:r>
            <a:endParaRPr lang="ko-KR" altLang="en-US" sz="1600" b="1">
              <a:solidFill>
                <a:srgbClr val="15608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047FD-9DE3-4D49-8A3A-40AE55CD3A05}"/>
              </a:ext>
            </a:extLst>
          </p:cNvPr>
          <p:cNvSpPr txBox="1"/>
          <p:nvPr/>
        </p:nvSpPr>
        <p:spPr>
          <a:xfrm>
            <a:off x="6248400" y="2489200"/>
            <a:ext cx="51816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404040"/>
                </a:solidFill>
              </a:rPr>
              <a:t>·  DB: MS-SQL/ADO → MySQL/ODBC →
   MS SQL Server/ODBC + JSON </a:t>
            </a:r>
            <a:r>
              <a:rPr lang="ko-KR" altLang="en-US" sz="1300" dirty="0" err="1">
                <a:solidFill>
                  <a:srgbClr val="404040"/>
                </a:solidFill>
              </a:rPr>
              <a:t>폴백</a:t>
            </a:r>
            <a:r>
              <a:rPr lang="ko-KR" altLang="en-US" sz="1300" dirty="0">
                <a:solidFill>
                  <a:srgbClr val="404040"/>
                </a:solidFill>
              </a:rPr>
              <a:t> </a:t>
            </a:r>
            <a:r>
              <a:rPr lang="en-US" altLang="ko-KR" sz="1300" dirty="0">
                <a:solidFill>
                  <a:srgbClr val="404040"/>
                </a:solidFill>
              </a:rPr>
              <a:t>(</a:t>
            </a:r>
            <a:r>
              <a:rPr lang="ko-KR" altLang="en-US" sz="1300" dirty="0">
                <a:solidFill>
                  <a:srgbClr val="404040"/>
                </a:solidFill>
              </a:rPr>
              <a:t>최종</a:t>
            </a:r>
            <a:r>
              <a:rPr lang="en-US" altLang="ko-KR" sz="1300" dirty="0">
                <a:solidFill>
                  <a:srgbClr val="404040"/>
                </a:solidFill>
              </a:rPr>
              <a:t>)
·  </a:t>
            </a:r>
            <a:r>
              <a:rPr lang="ko-KR" altLang="en-US" sz="1300" dirty="0">
                <a:solidFill>
                  <a:srgbClr val="404040"/>
                </a:solidFill>
              </a:rPr>
              <a:t>스크립트</a:t>
            </a:r>
            <a:r>
              <a:rPr lang="en-US" altLang="ko-KR" sz="1300" dirty="0">
                <a:solidFill>
                  <a:srgbClr val="404040"/>
                </a:solidFill>
              </a:rPr>
              <a:t>: LuaJIT+sol2 → Lua 5.5 C API
   </a:t>
            </a:r>
            <a:r>
              <a:rPr lang="ko-KR" altLang="en-US" sz="1300" dirty="0">
                <a:solidFill>
                  <a:srgbClr val="404040"/>
                </a:solidFill>
              </a:rPr>
              <a:t>직접 바인딩 </a:t>
            </a:r>
            <a:r>
              <a:rPr lang="en-US" altLang="ko-KR" sz="1300" dirty="0">
                <a:solidFill>
                  <a:srgbClr val="404040"/>
                </a:solidFill>
              </a:rPr>
              <a:t>(</a:t>
            </a:r>
            <a:r>
              <a:rPr lang="ko-KR" altLang="en-US" sz="1300" dirty="0">
                <a:solidFill>
                  <a:srgbClr val="404040"/>
                </a:solidFill>
              </a:rPr>
              <a:t>워커 로컬 </a:t>
            </a:r>
            <a:r>
              <a:rPr lang="en-US" altLang="ko-KR" sz="1300" dirty="0">
                <a:solidFill>
                  <a:srgbClr val="404040"/>
                </a:solidFill>
              </a:rPr>
              <a:t>VM </a:t>
            </a:r>
            <a:r>
              <a:rPr lang="ko-KR" altLang="en-US" sz="1300" dirty="0">
                <a:solidFill>
                  <a:srgbClr val="404040"/>
                </a:solidFill>
              </a:rPr>
              <a:t>병렬화</a:t>
            </a:r>
            <a:r>
              <a:rPr lang="en-US" altLang="ko-KR" sz="1300" dirty="0">
                <a:solidFill>
                  <a:srgbClr val="404040"/>
                </a:solidFill>
              </a:rPr>
              <a:t>)
·  </a:t>
            </a:r>
            <a:r>
              <a:rPr lang="ko-KR" altLang="en-US" sz="1300" dirty="0" err="1">
                <a:solidFill>
                  <a:srgbClr val="404040"/>
                </a:solidFill>
              </a:rPr>
              <a:t>길찾기</a:t>
            </a:r>
            <a:r>
              <a:rPr lang="en-US" altLang="ko-KR" sz="1300" dirty="0">
                <a:solidFill>
                  <a:srgbClr val="404040"/>
                </a:solidFill>
              </a:rPr>
              <a:t>: JPS → </a:t>
            </a:r>
            <a:r>
              <a:rPr lang="ko-KR" altLang="en-US" sz="1300" dirty="0">
                <a:solidFill>
                  <a:srgbClr val="404040"/>
                </a:solidFill>
              </a:rPr>
              <a:t>격자 </a:t>
            </a:r>
            <a:r>
              <a:rPr lang="en-US" altLang="ko-KR" sz="1300" dirty="0">
                <a:solidFill>
                  <a:srgbClr val="404040"/>
                </a:solidFill>
              </a:rPr>
              <a:t>A* (</a:t>
            </a:r>
            <a:r>
              <a:rPr lang="ko-KR" altLang="en-US" sz="1300" dirty="0">
                <a:solidFill>
                  <a:srgbClr val="404040"/>
                </a:solidFill>
              </a:rPr>
              <a:t>노드 상한 </a:t>
            </a:r>
            <a:r>
              <a:rPr lang="en-US" altLang="ko-KR" sz="1300" dirty="0">
                <a:solidFill>
                  <a:srgbClr val="404040"/>
                </a:solidFill>
              </a:rPr>
              <a:t>256)
·  </a:t>
            </a:r>
            <a:r>
              <a:rPr lang="ko-KR" altLang="en-US" sz="1300" dirty="0">
                <a:solidFill>
                  <a:srgbClr val="404040"/>
                </a:solidFill>
              </a:rPr>
              <a:t>스킬</a:t>
            </a:r>
            <a:r>
              <a:rPr lang="en-US" altLang="ko-KR" sz="1300" dirty="0">
                <a:solidFill>
                  <a:srgbClr val="404040"/>
                </a:solidFill>
              </a:rPr>
              <a:t>/</a:t>
            </a:r>
            <a:r>
              <a:rPr lang="ko-KR" altLang="en-US" sz="1300" dirty="0">
                <a:solidFill>
                  <a:srgbClr val="404040"/>
                </a:solidFill>
              </a:rPr>
              <a:t>퀘스트</a:t>
            </a:r>
            <a:r>
              <a:rPr lang="en-US" altLang="ko-KR" sz="1300" dirty="0">
                <a:solidFill>
                  <a:srgbClr val="404040"/>
                </a:solidFill>
              </a:rPr>
              <a:t>: </a:t>
            </a:r>
            <a:r>
              <a:rPr lang="ko-KR" altLang="en-US" sz="1300" dirty="0" err="1">
                <a:solidFill>
                  <a:srgbClr val="404040"/>
                </a:solidFill>
              </a:rPr>
              <a:t>스킬트리</a:t>
            </a:r>
            <a:r>
              <a:rPr lang="en-US" altLang="ko-KR" sz="1300" dirty="0">
                <a:solidFill>
                  <a:srgbClr val="404040"/>
                </a:solidFill>
              </a:rPr>
              <a:t>·12</a:t>
            </a:r>
            <a:r>
              <a:rPr lang="ko-KR" altLang="en-US" sz="1300" dirty="0">
                <a:solidFill>
                  <a:srgbClr val="404040"/>
                </a:solidFill>
              </a:rPr>
              <a:t>단 → 스킬 </a:t>
            </a:r>
            <a:r>
              <a:rPr lang="en-US" altLang="ko-KR" sz="1300" dirty="0">
                <a:solidFill>
                  <a:srgbClr val="404040"/>
                </a:solidFill>
              </a:rPr>
              <a:t>3</a:t>
            </a:r>
            <a:r>
              <a:rPr lang="ko-KR" altLang="en-US" sz="1300" dirty="0">
                <a:solidFill>
                  <a:srgbClr val="404040"/>
                </a:solidFill>
              </a:rPr>
              <a:t>종
   </a:t>
            </a:r>
            <a:r>
              <a:rPr lang="en-US" altLang="ko-KR" sz="1300" dirty="0">
                <a:solidFill>
                  <a:srgbClr val="404040"/>
                </a:solidFill>
              </a:rPr>
              <a:t>+ 3</a:t>
            </a:r>
            <a:r>
              <a:rPr lang="ko-KR" altLang="en-US" sz="1300" dirty="0">
                <a:solidFill>
                  <a:srgbClr val="404040"/>
                </a:solidFill>
              </a:rPr>
              <a:t>단 연쇄 </a:t>
            </a:r>
            <a:r>
              <a:rPr lang="en-US" altLang="ko-KR" sz="1300" dirty="0">
                <a:solidFill>
                  <a:srgbClr val="404040"/>
                </a:solidFill>
              </a:rPr>
              <a:t>(</a:t>
            </a:r>
            <a:r>
              <a:rPr lang="ko-KR" altLang="en-US" sz="1300" dirty="0">
                <a:solidFill>
                  <a:srgbClr val="404040"/>
                </a:solidFill>
              </a:rPr>
              <a:t>핵심 게임성 우선 구현</a:t>
            </a:r>
            <a:r>
              <a:rPr lang="en-US" altLang="ko-KR" sz="1300" dirty="0">
                <a:solidFill>
                  <a:srgbClr val="404040"/>
                </a:solidFill>
              </a:rPr>
              <a:t>)</a:t>
            </a:r>
            <a:endParaRPr lang="ko-KR" altLang="en-US" sz="1300" dirty="0">
              <a:solidFill>
                <a:srgbClr val="40404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60F1374-F525-4F84-B1C6-CC4843FAA11C}"/>
              </a:ext>
            </a:extLst>
          </p:cNvPr>
          <p:cNvSpPr/>
          <p:nvPr/>
        </p:nvSpPr>
        <p:spPr>
          <a:xfrm>
            <a:off x="762000" y="5740400"/>
            <a:ext cx="10668000" cy="5842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FFFFFF"/>
                </a:solidFill>
              </a:rPr>
              <a:t>감사합니다   </a:t>
            </a:r>
            <a:r>
              <a:rPr lang="en-US" altLang="ko-KR" sz="1600" b="1" dirty="0">
                <a:solidFill>
                  <a:srgbClr val="FFFFFF"/>
                </a:solidFill>
              </a:rPr>
              <a:t>·   Q &amp; A</a:t>
            </a:r>
            <a:endParaRPr lang="ko-KR" altLang="en-US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87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81079103611]">
  <a:themeElements>
    <a:clrScheme name="Office">
      <a:dk1>
        <a:srgbClr val="0F2438"/>
      </a:dk1>
      <a:lt1>
        <a:srgbClr val="F3F7FC"/>
      </a:lt1>
      <a:dk2>
        <a:srgbClr val="1B3A5C"/>
      </a:dk2>
      <a:lt2>
        <a:srgbClr val="DCE7F3"/>
      </a:lt2>
      <a:accent1>
        <a:srgbClr val="2D6FA8"/>
      </a:accent1>
      <a:accent2>
        <a:srgbClr val="4A90C4"/>
      </a:accent2>
      <a:accent3>
        <a:srgbClr val="1F5680"/>
      </a:accent3>
      <a:accent4>
        <a:srgbClr val="6FB1DC"/>
      </a:accent4>
      <a:accent5>
        <a:srgbClr val="8AA9C9"/>
      </a:accent5>
      <a:accent6>
        <a:srgbClr val="3B7EA1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6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EA62A9-AB34-465E-8C81-8CB6B451E5E2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6a079435-80e3-4048-ab9b-375527ee8d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812</Words>
  <Application>Microsoft Office PowerPoint</Application>
  <PresentationFormat>와이드스크린</PresentationFormat>
  <Paragraphs>93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 [1781079103611]</vt:lpstr>
      <vt:lpstr>Aetheria Online</vt:lpstr>
      <vt:lpstr>기본 구현 요소</vt:lpstr>
      <vt:lpstr>성능 최적화 &amp; 동접 측정</vt:lpstr>
      <vt:lpstr>추가 구현 요소 ①  ·  월드 &amp; 보스</vt:lpstr>
      <vt:lpstr>추가 구현 요소 ②  ·  게임 시스템</vt:lpstr>
      <vt:lpstr>현재 한계 &amp; 향후 개선할 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Doik Lee</dc:creator>
  <cp:lastModifiedBy>Doik Lee</cp:lastModifiedBy>
  <cp:revision>15</cp:revision>
  <dcterms:created xsi:type="dcterms:W3CDTF">2026-06-09T16:56:43Z</dcterms:created>
  <dcterms:modified xsi:type="dcterms:W3CDTF">2026-06-13T16:45:18Z</dcterms:modified>
</cp:coreProperties>
</file>